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99"/>
    <a:srgbClr val="011819"/>
    <a:srgbClr val="000A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4610"/>
  </p:normalViewPr>
  <p:slideViewPr>
    <p:cSldViewPr snapToGrid="0" snapToObjects="1">
      <p:cViewPr>
        <p:scale>
          <a:sx n="66" d="100"/>
          <a:sy n="66" d="100"/>
        </p:scale>
        <p:origin x="87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1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lfi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lfi-prototype.vercel.app/onboarding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fi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48889" y="1809750"/>
            <a:ext cx="6667500" cy="66675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14191" y="3575052"/>
            <a:ext cx="3136896" cy="3136896"/>
          </a:xfrm>
          <a:prstGeom prst="round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2043187"/>
            <a:ext cx="10396389" cy="490538"/>
          </a:xfrm>
          <a:prstGeom prst="roundRect">
            <a:avLst>
              <a:gd name="adj" fmla="val 1553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38049" y="2235880"/>
            <a:ext cx="105152" cy="105152"/>
          </a:xfrm>
          <a:prstGeom prst="ellipse">
            <a:avLst/>
          </a:prstGeom>
          <a:solidFill>
            <a:srgbClr val="10B981">
              <a:alpha val="5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43025" y="2147962"/>
            <a:ext cx="1010001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SHARIA-COMPLIANT END-TO-END REFINANCE PLATFORM IN THE GCC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2500" y="2762324"/>
            <a:ext cx="8829675" cy="4152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0" b="1" kern="0" spc="-18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6000" b="1" kern="0" spc="-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</a:t>
            </a:r>
            <a:r>
              <a:rPr lang="en-US" sz="6000" b="1" kern="0" spc="-18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Sharia-compliant refinance marketplace for the UAE's </a:t>
            </a:r>
            <a:r>
              <a:rPr lang="en-US" sz="6000" b="1" kern="0" spc="-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$149B </a:t>
            </a:r>
            <a:r>
              <a:rPr lang="en-US" sz="6000" b="1" kern="0" spc="-18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market.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952500" y="7219950"/>
            <a:ext cx="68675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to aggregate, convert, and settle debt — fully digital, Sharia-compliant, lender-agnostic.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54413" y="9277275"/>
            <a:ext cx="2985046" cy="490538"/>
          </a:xfrm>
          <a:prstGeom prst="roundRect">
            <a:avLst>
              <a:gd name="adj" fmla="val 50000"/>
            </a:avLst>
          </a:prstGeom>
          <a:solidFill>
            <a:srgbClr val="0A2525"/>
          </a:solidFill>
          <a:ln w="9525">
            <a:solidFill>
              <a:srgbClr val="E1DED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90625" y="9382125"/>
            <a:ext cx="25983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AED 5M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089946" y="9277350"/>
            <a:ext cx="3567336" cy="490538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28071" y="9382125"/>
            <a:ext cx="31981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· DIFC · APRIL 2026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809681" y="9277350"/>
            <a:ext cx="6360542" cy="490538"/>
          </a:xfrm>
          <a:prstGeom prst="roundRect">
            <a:avLst>
              <a:gd name="adj" fmla="val 50000"/>
            </a:avLst>
          </a:prstGeom>
          <a:solidFill>
            <a:srgbClr val="0A2525"/>
          </a:solidFill>
          <a:ln w="9525">
            <a:solidFill>
              <a:srgbClr val="E1DED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47806" y="9382125"/>
            <a:ext cx="607510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· ISLAMIC FINANCE · OPEN BANKING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residents are trapped in fragmented, costly debt.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357438"/>
            <a:ext cx="1687449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salaried resident carries 3–5 liabilities. Refinancing today is manual, slow, single-bank, and interest-based.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2974628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2525" y="31556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155603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525" y="3689003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paperwork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52525" y="4085183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certificates, liability letters, physical cheques. 7–10 working-day turnaround per bank.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57950" y="2974628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57975" y="31556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75" y="3155603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57975" y="3689003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liabilities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57975" y="4085183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across lenders. Users juggle 3–5 separate EMI schedules with no consolidated picture.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963400" y="2974628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2163425" y="3155603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3425" y="3155603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63425" y="3689003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Interest-based by default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2163425" y="4085183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80–85% of UAE consumer debt is riba-based. Muslim borrowers have no neutral, digital route to Sharia-compliant finance.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52500" y="5636493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152525" y="58174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58174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2525" y="6350868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Single-bank opacity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1152525" y="6747049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only sell their own products. No lender-agnostic comparison. Hidden flat-vs-reducing rate structures cost borrowers thousands.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6457950" y="5636493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657975" y="58174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581746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57975" y="6350868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sites don't execute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6657975" y="6747049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YallaCompare, MyMoneySouq surface rates — but do not settle old debt, generate contracts, or manage repayment.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11963400" y="5636493"/>
            <a:ext cx="5372100" cy="2528515"/>
          </a:xfrm>
          <a:prstGeom prst="roundRect">
            <a:avLst>
              <a:gd name="adj" fmla="val 52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2163425" y="581746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3425" y="581746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163425" y="6350868"/>
            <a:ext cx="51212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post-refinance support</a:t>
            </a:r>
            <a:endParaRPr lang="en-US" sz="2100" dirty="0"/>
          </a:p>
        </p:txBody>
      </p:sp>
      <p:sp>
        <p:nvSpPr>
          <p:cNvPr id="34" name="Text 26"/>
          <p:cNvSpPr/>
          <p:nvPr/>
        </p:nvSpPr>
        <p:spPr>
          <a:xfrm>
            <a:off x="12163425" y="6747049"/>
            <a:ext cx="512121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buyout, users are on their own — no dashboard, no alerts, no credit-score tracking. The cycle repeats.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952500" y="8355509"/>
            <a:ext cx="16383000" cy="1436191"/>
          </a:xfrm>
          <a:prstGeom prst="roundRect">
            <a:avLst>
              <a:gd name="adj" fmla="val 7959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1190625" y="8921204"/>
            <a:ext cx="9748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400" dirty="0"/>
          </a:p>
        </p:txBody>
      </p:sp>
      <p:sp>
        <p:nvSpPr>
          <p:cNvPr id="37" name="Text 29"/>
          <p:cNvSpPr/>
          <p:nvPr/>
        </p:nvSpPr>
        <p:spPr>
          <a:xfrm>
            <a:off x="2279749" y="8479334"/>
            <a:ext cx="17907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UAE residents hold at least one active credit facility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4146649" y="8479334"/>
            <a:ext cx="9525" cy="1188541"/>
          </a:xfrm>
          <a:prstGeom prst="rect">
            <a:avLst/>
          </a:prstGeom>
          <a:solidFill>
            <a:srgbClr val="E1DED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308574" y="8921204"/>
            <a:ext cx="5944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2400" dirty="0"/>
          </a:p>
        </p:txBody>
      </p:sp>
      <p:sp>
        <p:nvSpPr>
          <p:cNvPr id="40" name="Text 32"/>
          <p:cNvSpPr/>
          <p:nvPr/>
        </p:nvSpPr>
        <p:spPr>
          <a:xfrm>
            <a:off x="5017368" y="8627864"/>
            <a:ext cx="179070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liabilities per salaried resident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6884268" y="8479334"/>
            <a:ext cx="9525" cy="1188541"/>
          </a:xfrm>
          <a:prstGeom prst="rect">
            <a:avLst/>
          </a:prstGeom>
          <a:solidFill>
            <a:srgbClr val="E1DED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7046193" y="8921204"/>
            <a:ext cx="7165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</a:t>
            </a:r>
            <a:endParaRPr lang="en-US" sz="2400" dirty="0"/>
          </a:p>
        </p:txBody>
      </p:sp>
      <p:sp>
        <p:nvSpPr>
          <p:cNvPr id="43" name="Text 35"/>
          <p:cNvSpPr/>
          <p:nvPr/>
        </p:nvSpPr>
        <p:spPr>
          <a:xfrm>
            <a:off x="7877026" y="8627864"/>
            <a:ext cx="179070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 for a traditional refinance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9743926" y="8479334"/>
            <a:ext cx="9525" cy="1188541"/>
          </a:xfrm>
          <a:prstGeom prst="rect">
            <a:avLst/>
          </a:prstGeom>
          <a:solidFill>
            <a:srgbClr val="E1DED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9905851" y="8921204"/>
            <a:ext cx="12614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7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min</a:t>
            </a:r>
            <a:endParaRPr lang="en-US" sz="2400" dirty="0"/>
          </a:p>
        </p:txBody>
      </p:sp>
      <p:sp>
        <p:nvSpPr>
          <p:cNvPr id="46" name="Text 38"/>
          <p:cNvSpPr/>
          <p:nvPr/>
        </p:nvSpPr>
        <p:spPr>
          <a:xfrm>
            <a:off x="11281618" y="8627864"/>
            <a:ext cx="179070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OLFI's end-to-end digital refinance flow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$149B market with no digital Sharia-compliant rail.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471738"/>
            <a:ext cx="10858500" cy="1455390"/>
          </a:xfrm>
          <a:prstGeom prst="roundRect">
            <a:avLst>
              <a:gd name="adj" fmla="val 9162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" y="2471738"/>
            <a:ext cx="38100" cy="145539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19200" y="3058939"/>
            <a:ext cx="838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47900" y="2662238"/>
            <a:ext cx="96145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$149B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247900" y="3119438"/>
            <a:ext cx="961453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UAE consumer and household liabilities — personal loans, auto, credit cards. ~25% of UAE GDP. Growing YoY.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231928"/>
            <a:ext cx="10858500" cy="1455390"/>
          </a:xfrm>
          <a:prstGeom prst="roundRect">
            <a:avLst>
              <a:gd name="adj" fmla="val 9162"/>
            </a:avLst>
          </a:prstGeom>
          <a:solidFill>
            <a:srgbClr val="4FD1C5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2500" y="4231928"/>
            <a:ext cx="38100" cy="145539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9200" y="4819129"/>
            <a:ext cx="838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7900" y="4422428"/>
            <a:ext cx="96145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$31.29B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247900" y="4879628"/>
            <a:ext cx="961453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Refinanceable stressed debt — SAM is 21% of TAM. ~1.05M salaried multi-debt users. Verified from financial model.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992118"/>
            <a:ext cx="10858500" cy="1455390"/>
          </a:xfrm>
          <a:prstGeom prst="roundRect">
            <a:avLst>
              <a:gd name="adj" fmla="val 9162"/>
            </a:avLst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2500" y="5992118"/>
            <a:ext cx="38100" cy="1455390"/>
          </a:xfrm>
          <a:prstGeom prst="rect">
            <a:avLst/>
          </a:prstGeom>
          <a:solidFill>
            <a:srgbClr val="E1DED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9200" y="6579319"/>
            <a:ext cx="838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47900" y="6182618"/>
            <a:ext cx="961453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99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$1.00B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247900" y="6639818"/>
            <a:ext cx="961453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at 3.2% of SAM — modelled 3-year flow. 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573000" y="2471738"/>
            <a:ext cx="4762500" cy="1481956"/>
          </a:xfrm>
          <a:prstGeom prst="roundRect">
            <a:avLst>
              <a:gd name="adj" fmla="val 7713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734925" y="2576513"/>
            <a:ext cx="4571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8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2734925" y="2957513"/>
            <a:ext cx="457181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salaried, multi-debt UAE residents in our Phase 1 salary band (AED 8K–30K/mo)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573000" y="4048944"/>
            <a:ext cx="4762500" cy="1481956"/>
          </a:xfrm>
          <a:prstGeom prst="roundRect">
            <a:avLst>
              <a:gd name="adj" fmla="val 7713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734925" y="4153719"/>
            <a:ext cx="4571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8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80–85%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734925" y="4534719"/>
            <a:ext cx="457181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UAE consumer debt is still conventional interest-based — a structural under-supply of Sharia-compliant refinancing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573000" y="5626150"/>
            <a:ext cx="4762500" cy="1481956"/>
          </a:xfrm>
          <a:prstGeom prst="roundRect">
            <a:avLst>
              <a:gd name="adj" fmla="val 7713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734925" y="5730925"/>
            <a:ext cx="4571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8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734925" y="6111925"/>
            <a:ext cx="457181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 household debt — identical structural problem, accessible via the Saudi Open Banking Sandbox in Phase 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573000" y="7203356"/>
            <a:ext cx="4762500" cy="1779091"/>
          </a:xfrm>
          <a:prstGeom prst="roundRect">
            <a:avLst>
              <a:gd name="adj" fmla="val 6425"/>
            </a:avLst>
          </a:prstGeom>
          <a:solidFill>
            <a:srgbClr val="10B981">
              <a:alpha val="7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734925" y="7308131"/>
            <a:ext cx="4571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8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CBUAE Open Banking 2025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2734925" y="7689131"/>
            <a:ext cx="457181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tailwind: UAE's open banking framework now live — enables real-time account aggregation and consent-based data sharing. Timing is critical.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90258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81088"/>
            <a:ext cx="902589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From debt chaos to clarity.</a:t>
            </a:r>
            <a:endParaRPr lang="en-US" sz="4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814638"/>
            <a:ext cx="266700" cy="266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2738438"/>
            <a:ext cx="84372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strike="sngStrike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liabilities across 3–5 banks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524000" y="3105150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debt dashboard </a:t>
            </a: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open banking — one number, one plan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240411"/>
            <a:ext cx="266700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4000" y="4164211"/>
            <a:ext cx="84372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strike="sngStrike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interest-based debt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524000" y="4530923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Sharia-compliant conversion </a:t>
            </a: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certified Murābaḥa, Tawarruq, Ijāra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666184"/>
            <a:ext cx="266700" cy="266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4000" y="5589984"/>
            <a:ext cx="84372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strike="sngStrike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7–10-day manual bank process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524000" y="5956697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Sub-30-minute digital flow </a:t>
            </a: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OCR, e-sign, automated settlement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091958"/>
            <a:ext cx="266700" cy="266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4000" y="7015758"/>
            <a:ext cx="84372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strike="sngStrike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Single-bank opaque offers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524000" y="7382470"/>
            <a:ext cx="843724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Multi-lender marketplace </a:t>
            </a: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AI-ranked, transparent, instantly actionable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952500" y="8555831"/>
            <a:ext cx="8763000" cy="1364754"/>
          </a:xfrm>
          <a:prstGeom prst="roundRect">
            <a:avLst>
              <a:gd name="adj" fmla="val 8375"/>
            </a:avLst>
          </a:prstGeom>
          <a:solidFill>
            <a:srgbClr val="10B981">
              <a:alpha val="7000"/>
            </a:srgbClr>
          </a:solidFill>
          <a:ln w="9525">
            <a:solidFill>
              <a:srgbClr val="10B981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1190625" y="8755856"/>
            <a:ext cx="8535353" cy="1002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is a neutral intermediary. </a:t>
            </a: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issue, originate, or hold debt. Revenue comes from lender success fees when a refinance closes through our rail.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10477500" y="647700"/>
            <a:ext cx="6858000" cy="6862763"/>
          </a:xfrm>
          <a:prstGeom prst="roundRect">
            <a:avLst>
              <a:gd name="adj" fmla="val 3333"/>
            </a:avLst>
          </a:prstGeom>
          <a:solidFill>
            <a:srgbClr val="0A2525"/>
          </a:solidFill>
          <a:ln w="9525">
            <a:solidFill>
              <a:srgbClr val="E1DED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10791825" y="962025"/>
            <a:ext cx="64162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debts · 3 active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10791825" y="1514475"/>
            <a:ext cx="6229350" cy="976312"/>
          </a:xfrm>
          <a:prstGeom prst="roundRect">
            <a:avLst>
              <a:gd name="adj" fmla="val 9756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0791825" y="1514475"/>
            <a:ext cx="28575" cy="9763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11010900" y="1685925"/>
            <a:ext cx="46421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Emirates NBD Personal Loan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11010900" y="2009775"/>
            <a:ext cx="464217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rate: 21.5% p.a. · AED 85,000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16311116" y="1862138"/>
            <a:ext cx="5957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0791825" y="2681288"/>
            <a:ext cx="6229350" cy="976312"/>
          </a:xfrm>
          <a:prstGeom prst="roundRect">
            <a:avLst>
              <a:gd name="adj" fmla="val 9756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Shape 20"/>
          <p:cNvSpPr/>
          <p:nvPr/>
        </p:nvSpPr>
        <p:spPr>
          <a:xfrm>
            <a:off x="10791825" y="2681288"/>
            <a:ext cx="28575" cy="97631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11010900" y="2852738"/>
            <a:ext cx="4413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 Credit Card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11010900" y="3176588"/>
            <a:ext cx="44130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rate: 24% p.a. · AED 22,000</a:t>
            </a:r>
            <a:endParaRPr lang="en-US" sz="2100" dirty="0"/>
          </a:p>
        </p:txBody>
      </p:sp>
      <p:sp>
        <p:nvSpPr>
          <p:cNvPr id="29" name="Text 23"/>
          <p:cNvSpPr/>
          <p:nvPr/>
        </p:nvSpPr>
        <p:spPr>
          <a:xfrm>
            <a:off x="15874485" y="3028950"/>
            <a:ext cx="1168575" cy="25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0791825" y="3848100"/>
            <a:ext cx="6229350" cy="976312"/>
          </a:xfrm>
          <a:prstGeom prst="roundRect">
            <a:avLst>
              <a:gd name="adj" fmla="val 9756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791825" y="3848100"/>
            <a:ext cx="28575" cy="976312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11010900" y="4019550"/>
            <a:ext cx="42144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ADIB Auto Finance</a:t>
            </a:r>
            <a:endParaRPr lang="en-US" sz="2100" dirty="0"/>
          </a:p>
        </p:txBody>
      </p:sp>
      <p:sp>
        <p:nvSpPr>
          <p:cNvPr id="33" name="Text 27"/>
          <p:cNvSpPr/>
          <p:nvPr/>
        </p:nvSpPr>
        <p:spPr>
          <a:xfrm>
            <a:off x="11010900" y="4343400"/>
            <a:ext cx="421440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rate: 6.5% p.a. · AED 38,000</a:t>
            </a:r>
            <a:endParaRPr lang="en-US" sz="2100" dirty="0"/>
          </a:p>
        </p:txBody>
      </p:sp>
      <p:sp>
        <p:nvSpPr>
          <p:cNvPr id="34" name="Text 28"/>
          <p:cNvSpPr/>
          <p:nvPr/>
        </p:nvSpPr>
        <p:spPr>
          <a:xfrm>
            <a:off x="16234544" y="4195763"/>
            <a:ext cx="67233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0791825" y="5014913"/>
            <a:ext cx="6229350" cy="1285875"/>
          </a:xfrm>
          <a:prstGeom prst="roundRect">
            <a:avLst>
              <a:gd name="adj" fmla="val 740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0991850" y="5195888"/>
            <a:ext cx="4165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monthly saving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10991850" y="5505450"/>
            <a:ext cx="416535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consolidating to OLFI's best Sharia offer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5035882" y="5195888"/>
            <a:ext cx="1861468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1,840</a:t>
            </a:r>
            <a:endParaRPr lang="en-US" sz="3000" dirty="0"/>
          </a:p>
        </p:txBody>
      </p:sp>
      <p:sp>
        <p:nvSpPr>
          <p:cNvPr id="39" name="Shape 33"/>
          <p:cNvSpPr/>
          <p:nvPr/>
        </p:nvSpPr>
        <p:spPr>
          <a:xfrm>
            <a:off x="10791825" y="6529388"/>
            <a:ext cx="6229350" cy="66675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0869835" y="6700838"/>
            <a:ext cx="60733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42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my Sharia refinance offers →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5253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tap to funded — in under 30 minutes.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4219575" y="2424113"/>
            <a:ext cx="9525" cy="7005638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57300" y="2805113"/>
            <a:ext cx="27371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300" dirty="0">
                <a:solidFill>
                  <a:srgbClr val="10B98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57300" y="3757613"/>
            <a:ext cx="2737199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</a:t>
            </a: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57300" y="4953893"/>
            <a:ext cx="2737199" cy="34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connects accounts via open-banking consent (Lean / Tarabut). OLFI imports all active liabilities, rates, and payment schedules instantly.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57300" y="8615363"/>
            <a:ext cx="2238226" cy="433388"/>
          </a:xfrm>
          <a:prstGeom prst="roundRect">
            <a:avLst>
              <a:gd name="adj" fmla="val 1318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90650" y="8691563"/>
            <a:ext cx="204772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6175" y="2424113"/>
            <a:ext cx="9525" cy="7005638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33900" y="2805113"/>
            <a:ext cx="27371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300" dirty="0">
                <a:solidFill>
                  <a:srgbClr val="10B98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33900" y="3757613"/>
            <a:ext cx="2737199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533900" y="4451003"/>
            <a:ext cx="2737199" cy="34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OLFI AI engine scores the portfolio, generates an OLFI Score, and proposes restructuring — including certified Sharia conversion where eligible.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533900" y="8615363"/>
            <a:ext cx="1553691" cy="433388"/>
          </a:xfrm>
          <a:prstGeom prst="roundRect">
            <a:avLst>
              <a:gd name="adj" fmla="val 1318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7250" y="8691563"/>
            <a:ext cx="136319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AECB + AI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72775" y="2424113"/>
            <a:ext cx="9525" cy="7005638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0500" y="2805113"/>
            <a:ext cx="27371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300" dirty="0">
                <a:solidFill>
                  <a:srgbClr val="10B98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810500" y="3757613"/>
            <a:ext cx="2737199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</a:t>
            </a: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7810500" y="4953893"/>
            <a:ext cx="2737199" cy="3024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Islamic and conventional lenders present real profit-rate offers. User compares by cost, tenure, monthly instalment, or Sharia compliance.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810500" y="8615363"/>
            <a:ext cx="2187625" cy="433388"/>
          </a:xfrm>
          <a:prstGeom prst="roundRect">
            <a:avLst>
              <a:gd name="adj" fmla="val 1318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43850" y="8691563"/>
            <a:ext cx="199712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MULTI-LENDER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049375" y="2424113"/>
            <a:ext cx="9525" cy="7005638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87100" y="2805113"/>
            <a:ext cx="273719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300" dirty="0">
                <a:solidFill>
                  <a:srgbClr val="10B98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1087100" y="3757613"/>
            <a:ext cx="2737199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</a:t>
            </a: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1087100" y="4953893"/>
            <a:ext cx="2737199" cy="34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E-contracts generated and digitally signed. OLFI coordinates the old-debt buyout on the user's behalf. Funds flow lender-to-lender — OLFI holds nothing.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087100" y="8615363"/>
            <a:ext cx="2154882" cy="433388"/>
          </a:xfrm>
          <a:prstGeom prst="roundRect">
            <a:avLst>
              <a:gd name="adj" fmla="val 1318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20450" y="8691563"/>
            <a:ext cx="196438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E-CONTRACTS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363700" y="2805113"/>
            <a:ext cx="27470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300" dirty="0">
                <a:solidFill>
                  <a:srgbClr val="10B98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14363700" y="3757613"/>
            <a:ext cx="274701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</a:t>
            </a: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4363700" y="4953893"/>
            <a:ext cx="2747010" cy="3024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payment tracked in-app with live credit-score monitoring, deferral options, and better-offer alerts. User stays on OLFI for the full lifecycle.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4363700" y="8615363"/>
            <a:ext cx="2515716" cy="433388"/>
          </a:xfrm>
          <a:prstGeom prst="roundRect">
            <a:avLst>
              <a:gd name="adj" fmla="val 1318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497050" y="8691563"/>
            <a:ext cx="232521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LOOP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5253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earns its place.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966913"/>
            <a:ext cx="10845775" cy="3899446"/>
          </a:xfrm>
          <a:prstGeom prst="roundRect">
            <a:avLst>
              <a:gd name="adj" fmla="val 390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66825" y="2319338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2433638"/>
            <a:ext cx="26670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3125" y="2319338"/>
            <a:ext cx="962105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Debt Dashboard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43125" y="2818433"/>
            <a:ext cx="9621050" cy="12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personal loans, credit cards, auto and BNPL consolidated in one real-time view — balances, rates, due dates, and total exposure. Powered by open banking. No manual entry.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2143125" y="4268093"/>
            <a:ext cx="2962349" cy="395288"/>
          </a:xfrm>
          <a:prstGeom prst="roundRect">
            <a:avLst>
              <a:gd name="adj" fmla="val 14458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76475" y="4325243"/>
            <a:ext cx="27845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TECHNOLOGIES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19774" y="4268093"/>
            <a:ext cx="2742828" cy="395288"/>
          </a:xfrm>
          <a:prstGeom prst="roundRect">
            <a:avLst>
              <a:gd name="adj" fmla="val 14458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53124" y="4325243"/>
            <a:ext cx="255841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TARABUT GATEWAY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76902" y="4268093"/>
            <a:ext cx="1434852" cy="395288"/>
          </a:xfrm>
          <a:prstGeom prst="roundRect">
            <a:avLst>
              <a:gd name="adj" fmla="val 14458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10252" y="4325243"/>
            <a:ext cx="12443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AECB API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026875" y="1966913"/>
            <a:ext cx="5308550" cy="3899446"/>
          </a:xfrm>
          <a:prstGeom prst="roundRect">
            <a:avLst>
              <a:gd name="adj" fmla="val 3908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2341200" y="2319338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500" y="2433638"/>
            <a:ext cx="266700" cy="2667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1200" y="2947988"/>
            <a:ext cx="4820297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 Refinance Engine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2341200" y="3447083"/>
            <a:ext cx="4820297" cy="169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eligible loans into AAOIFI-certified Murābaḥa, Tawarruq, and Ijāra structures. Islamic products are native, not a filter.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952500" y="6094958"/>
            <a:ext cx="5308550" cy="3899446"/>
          </a:xfrm>
          <a:prstGeom prst="roundRect">
            <a:avLst>
              <a:gd name="adj" fmla="val 3908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266825" y="6447383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4FD1C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125" y="6561683"/>
            <a:ext cx="266700" cy="2667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6825" y="7076033"/>
            <a:ext cx="4820297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Score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1266825" y="7575128"/>
            <a:ext cx="4820297" cy="210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credit-health score combining AECB bureau data, open-banking cash flows, and behavioural signals. Unlocks better pricing for thin-file borrowers.</a:t>
            </a:r>
            <a:endParaRPr lang="en-US" sz="2100" dirty="0"/>
          </a:p>
        </p:txBody>
      </p:sp>
      <p:sp>
        <p:nvSpPr>
          <p:cNvPr id="25" name="Shape 20"/>
          <p:cNvSpPr/>
          <p:nvPr/>
        </p:nvSpPr>
        <p:spPr>
          <a:xfrm>
            <a:off x="6489650" y="6094958"/>
            <a:ext cx="5308625" cy="3899446"/>
          </a:xfrm>
          <a:prstGeom prst="roundRect">
            <a:avLst>
              <a:gd name="adj" fmla="val 3908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803975" y="6447383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275" y="6561683"/>
            <a:ext cx="266700" cy="2667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03975" y="7076033"/>
            <a:ext cx="4820374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Settlement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6803975" y="7575128"/>
            <a:ext cx="4820374" cy="169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document capture and e-signing eliminate branch visits. OLFI executes the old-debt buyout end-to-end. Funds flow lender-to-lender.</a:t>
            </a:r>
            <a:endParaRPr lang="en-US" sz="2100" dirty="0"/>
          </a:p>
        </p:txBody>
      </p:sp>
      <p:sp>
        <p:nvSpPr>
          <p:cNvPr id="30" name="Shape 24"/>
          <p:cNvSpPr/>
          <p:nvPr/>
        </p:nvSpPr>
        <p:spPr>
          <a:xfrm>
            <a:off x="12026875" y="6094958"/>
            <a:ext cx="5308550" cy="3899446"/>
          </a:xfrm>
          <a:prstGeom prst="roundRect">
            <a:avLst>
              <a:gd name="adj" fmla="val 3908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2341200" y="6447383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4FD1C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5500" y="6561683"/>
            <a:ext cx="266700" cy="2667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341200" y="7076033"/>
            <a:ext cx="4820297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Alerts</a:t>
            </a:r>
            <a:endParaRPr lang="en-US" sz="2400" dirty="0"/>
          </a:p>
        </p:txBody>
      </p:sp>
      <p:sp>
        <p:nvSpPr>
          <p:cNvPr id="34" name="Text 27"/>
          <p:cNvSpPr/>
          <p:nvPr/>
        </p:nvSpPr>
        <p:spPr>
          <a:xfrm>
            <a:off x="12341200" y="7575128"/>
            <a:ext cx="4820297" cy="169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Due-date reminders, better-offer notifications, cash-flow warnings, and AECB score change alerts. Continuous engagement without friction.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941832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81088"/>
            <a:ext cx="941832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tailwinds converging in 2025–2026.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2700338"/>
            <a:ext cx="94183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E1DED1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HOUSEHOLD DEBT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3100388"/>
            <a:ext cx="941832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36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52500" y="4014788"/>
            <a:ext cx="4709160" cy="2384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25% of GDP — growing, overleveraged, and structurally underserved.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6666309"/>
            <a:ext cx="9144000" cy="2122140"/>
          </a:xfrm>
          <a:prstGeom prst="roundRect">
            <a:avLst>
              <a:gd name="adj" fmla="val 6284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2025" y="6675834"/>
            <a:ext cx="9124950" cy="2857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90625" y="6866334"/>
            <a:ext cx="892778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CREATION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90625" y="7223522"/>
            <a:ext cx="892778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Sharia-compliant, lender-agnostic, end-to-end digital refinance platform exists in the GCC.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90625" y="7966472"/>
            <a:ext cx="8927783" cy="660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is not entering a market. It is creating one. The window to own this category is open </a:t>
            </a:r>
            <a:r>
              <a:rPr lang="en-US" sz="18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858500" y="647700"/>
            <a:ext cx="6477000" cy="1543943"/>
          </a:xfrm>
          <a:prstGeom prst="roundRect">
            <a:avLst>
              <a:gd name="adj" fmla="val 7403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58500" y="647700"/>
            <a:ext cx="28575" cy="154394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15675" y="800100"/>
            <a:ext cx="8382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068175" y="800100"/>
            <a:ext cx="5189887" cy="1277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CBUAE Open Banking framework goes live. </a:t>
            </a:r>
            <a:r>
              <a:rPr lang="en-US" sz="18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must expose APIs for account aggregation and payment initiation. OLFI's core data layer is now legally accessible.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58500" y="2305943"/>
            <a:ext cx="6477000" cy="1852538"/>
          </a:xfrm>
          <a:prstGeom prst="roundRect">
            <a:avLst>
              <a:gd name="adj" fmla="val 6170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858500" y="2305943"/>
            <a:ext cx="28575" cy="18525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15675" y="2458343"/>
            <a:ext cx="8382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068175" y="2458343"/>
            <a:ext cx="5189887" cy="158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household debt reaches $149B </a:t>
            </a:r>
            <a:r>
              <a:rPr lang="en-US" sz="18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NPL ratio at 4.1%. Post-COVID over-borrowing + rising cost of living = record refinancing intent. Search volume for debt consolidation up 40% YoY.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858500" y="4272781"/>
            <a:ext cx="6477000" cy="1543943"/>
          </a:xfrm>
          <a:prstGeom prst="roundRect">
            <a:avLst>
              <a:gd name="adj" fmla="val 7403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858500" y="4272781"/>
            <a:ext cx="28575" cy="154394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15675" y="4425181"/>
            <a:ext cx="8382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068175" y="4425181"/>
            <a:ext cx="5189887" cy="1277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fintech funding hits record highs </a:t>
            </a:r>
            <a:r>
              <a:rPr lang="en-US" sz="18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GCC. Investors are backing Sharia-compliant digital finance. OLFI enters at the right moment in the funding cycle.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858500" y="5931024"/>
            <a:ext cx="6477000" cy="1852538"/>
          </a:xfrm>
          <a:prstGeom prst="roundRect">
            <a:avLst>
              <a:gd name="adj" fmla="val 6170"/>
            </a:avLst>
          </a:prstGeom>
          <a:solidFill>
            <a:srgbClr val="133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58500" y="5931024"/>
            <a:ext cx="28575" cy="18525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115675" y="6083424"/>
            <a:ext cx="8382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068175" y="6083424"/>
            <a:ext cx="5189887" cy="158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DIFC and ADGM sandbox capacity expanded. </a:t>
            </a:r>
            <a:r>
              <a:rPr lang="en-US" sz="18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path to a fintech intermediary licence is now faster — 6–9 month sandbox-to-licence timeline established. OLFI is positioned at the front of the queue.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5253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fees now. Subscriptions and API licensing next.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47913"/>
            <a:ext cx="11430000" cy="1736452"/>
          </a:xfrm>
          <a:prstGeom prst="roundRect">
            <a:avLst>
              <a:gd name="adj" fmla="val 6582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0063" y="2391054"/>
            <a:ext cx="102870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3125" y="2527102"/>
            <a:ext cx="76626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Success Fee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43125" y="2908102"/>
            <a:ext cx="7662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closed refinance. Personal loans: 1.2–2.2% · Credit cards: 1.3–2.3% · Car loans: 0.7–1.0%. No fees to users.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3125" y="3624263"/>
            <a:ext cx="766265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 DEALS Y1 · 5,500 Y2 · 8,000 Y3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11196" y="2644601"/>
            <a:ext cx="23331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Revenue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1196" y="2963689"/>
            <a:ext cx="233317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300" b="1" kern="0" spc="-6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$1,695,750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811196" y="3525664"/>
            <a:ext cx="23331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6,223,402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236765"/>
            <a:ext cx="11430000" cy="2048768"/>
          </a:xfrm>
          <a:prstGeom prst="roundRect">
            <a:avLst>
              <a:gd name="adj" fmla="val 5579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088" y="4262438"/>
            <a:ext cx="1028700" cy="2066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3125" y="4412084"/>
            <a:ext cx="75594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Subscription + Micro-fees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143125" y="4793084"/>
            <a:ext cx="755948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→ premium: better-offer alerts, OLFI Score tracking, Sharia-compliant deferral (AED 5–60/reschedule). Targeting 40% of active users.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43125" y="5829226"/>
            <a:ext cx="755948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ON PHASE 1 FROM Y2 ONWARD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11035" y="4689649"/>
            <a:ext cx="2433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Revenue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11035" y="5008736"/>
            <a:ext cx="24333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300" b="1" kern="0" spc="-66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$2,664,750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711035" y="5570711"/>
            <a:ext cx="24333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9,779,632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6437933"/>
            <a:ext cx="11430000" cy="2010742"/>
          </a:xfrm>
          <a:prstGeom prst="roundRect">
            <a:avLst>
              <a:gd name="adj" fmla="val 5684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rot="10800000">
            <a:off x="464007" y="6464331"/>
            <a:ext cx="932088" cy="1995970"/>
          </a:xfrm>
          <a:prstGeom prst="round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088" y="6481763"/>
            <a:ext cx="1028700" cy="202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43125" y="6613773"/>
            <a:ext cx="7533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Licensing + Own-brand Products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143125" y="6994773"/>
            <a:ext cx="75332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integrate OLFI APIs for screening and decisioning. OLFI-branded credit cards + own loan offers on marketplace. KSA/GCC expansion.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143125" y="7710934"/>
            <a:ext cx="7533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API LICENSING · OWN-BRAND PRODUCTS · REGIONAL SCALE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85511" y="6871767"/>
            <a:ext cx="24588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Revenue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85511" y="7190854"/>
            <a:ext cx="2458864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300" b="1" kern="0" spc="-66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$3,876,000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9685511" y="7752829"/>
            <a:ext cx="24588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14,224,920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8601075"/>
            <a:ext cx="11430000" cy="828675"/>
          </a:xfrm>
          <a:prstGeom prst="roundRect">
            <a:avLst>
              <a:gd name="adj" fmla="val 1149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28725" y="8853488"/>
            <a:ext cx="41756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36-Month Cumulative Revenue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520368" y="8748713"/>
            <a:ext cx="255017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$8,236,500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9898186" y="8839200"/>
            <a:ext cx="20335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30,227,955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2763500" y="2347913"/>
            <a:ext cx="2228850" cy="1409700"/>
          </a:xfrm>
          <a:prstGeom prst="roundRect">
            <a:avLst>
              <a:gd name="adj" fmla="val 6757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963525" y="2509838"/>
            <a:ext cx="1905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26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PER DEAL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963525" y="3090863"/>
            <a:ext cx="19050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367</a:t>
            </a:r>
            <a:endParaRPr lang="en-US" sz="3300" dirty="0"/>
          </a:p>
        </p:txBody>
      </p:sp>
      <p:sp>
        <p:nvSpPr>
          <p:cNvPr id="38" name="Shape 36"/>
          <p:cNvSpPr/>
          <p:nvPr/>
        </p:nvSpPr>
        <p:spPr>
          <a:xfrm>
            <a:off x="15106650" y="2347913"/>
            <a:ext cx="2228850" cy="1409700"/>
          </a:xfrm>
          <a:prstGeom prst="roundRect">
            <a:avLst>
              <a:gd name="adj" fmla="val 6757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5306675" y="2509838"/>
            <a:ext cx="1905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26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Y1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306675" y="3090863"/>
            <a:ext cx="19050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95.3%</a:t>
            </a:r>
            <a:endParaRPr lang="en-US" sz="3300" dirty="0"/>
          </a:p>
        </p:txBody>
      </p:sp>
      <p:sp>
        <p:nvSpPr>
          <p:cNvPr id="41" name="Shape 39"/>
          <p:cNvSpPr/>
          <p:nvPr/>
        </p:nvSpPr>
        <p:spPr>
          <a:xfrm>
            <a:off x="12763500" y="3871913"/>
            <a:ext cx="2228850" cy="1409700"/>
          </a:xfrm>
          <a:prstGeom prst="roundRect">
            <a:avLst>
              <a:gd name="adj" fmla="val 6757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963525" y="4033837"/>
            <a:ext cx="1905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26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 Y1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63525" y="4614863"/>
            <a:ext cx="19050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$143,118</a:t>
            </a:r>
            <a:endParaRPr lang="en-US" sz="3300" dirty="0"/>
          </a:p>
        </p:txBody>
      </p:sp>
      <p:sp>
        <p:nvSpPr>
          <p:cNvPr id="44" name="Shape 42"/>
          <p:cNvSpPr/>
          <p:nvPr/>
        </p:nvSpPr>
        <p:spPr>
          <a:xfrm>
            <a:off x="15106650" y="3871913"/>
            <a:ext cx="2228850" cy="1409700"/>
          </a:xfrm>
          <a:prstGeom prst="roundRect">
            <a:avLst>
              <a:gd name="adj" fmla="val 6757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5306675" y="4033837"/>
            <a:ext cx="1905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26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MULTIPLE P.L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306675" y="4614863"/>
            <a:ext cx="19050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5.6×</a:t>
            </a:r>
            <a:endParaRPr lang="en-US" sz="3300" dirty="0"/>
          </a:p>
        </p:txBody>
      </p:sp>
      <p:sp>
        <p:nvSpPr>
          <p:cNvPr id="47" name="Shape 45"/>
          <p:cNvSpPr/>
          <p:nvPr/>
        </p:nvSpPr>
        <p:spPr>
          <a:xfrm>
            <a:off x="12763500" y="5414963"/>
            <a:ext cx="4572000" cy="3028950"/>
          </a:xfrm>
          <a:prstGeom prst="roundRect">
            <a:avLst>
              <a:gd name="adj" fmla="val 3774"/>
            </a:avLst>
          </a:prstGeom>
          <a:solidFill>
            <a:srgbClr val="0A2525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2773025" y="5424488"/>
            <a:ext cx="4552950" cy="519113"/>
          </a:xfrm>
          <a:prstGeom prst="rect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2773025" y="5934075"/>
            <a:ext cx="4552950" cy="9525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2963525" y="5538788"/>
            <a:ext cx="174493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RATE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556060" y="5538788"/>
            <a:ext cx="9106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390465" y="5538788"/>
            <a:ext cx="91060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✓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224870" y="5538788"/>
            <a:ext cx="91053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773025" y="6791325"/>
            <a:ext cx="4552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2963525" y="6057900"/>
            <a:ext cx="17449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Loans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14556060" y="6057900"/>
            <a:ext cx="91060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15390465" y="6057900"/>
            <a:ext cx="91060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6224870" y="6057900"/>
            <a:ext cx="91053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2773025" y="7353300"/>
            <a:ext cx="4552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963525" y="6915150"/>
            <a:ext cx="17449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Cards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4556060" y="6915150"/>
            <a:ext cx="910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15390465" y="6915150"/>
            <a:ext cx="910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16224870" y="6915150"/>
            <a:ext cx="9105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12963525" y="7477125"/>
            <a:ext cx="17449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Loans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14556060" y="7477125"/>
            <a:ext cx="910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15390465" y="7477125"/>
            <a:ext cx="9106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16224870" y="7477125"/>
            <a:ext cx="9105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2100" dirty="0"/>
          </a:p>
        </p:txBody>
      </p:sp>
      <p:sp>
        <p:nvSpPr>
          <p:cNvPr id="68" name="Shape 66"/>
          <p:cNvSpPr/>
          <p:nvPr/>
        </p:nvSpPr>
        <p:spPr>
          <a:xfrm>
            <a:off x="12763499" y="8577263"/>
            <a:ext cx="5328557" cy="852488"/>
          </a:xfrm>
          <a:prstGeom prst="roundRect">
            <a:avLst>
              <a:gd name="adj" fmla="val 11173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593408" y="8701088"/>
            <a:ext cx="10412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250K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2593408" y="9043988"/>
            <a:ext cx="1041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3710884" y="8848725"/>
            <a:ext cx="342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4053784" y="8701088"/>
            <a:ext cx="11897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4053784" y="9043988"/>
            <a:ext cx="118973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5319716" y="8848725"/>
            <a:ext cx="342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5662616" y="8701088"/>
            <a:ext cx="10195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17,000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5662616" y="9043988"/>
            <a:ext cx="10195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6758363" y="8848725"/>
            <a:ext cx="342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7101263" y="8701088"/>
            <a:ext cx="1181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$8.2M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7101263" y="9043988"/>
            <a:ext cx="11813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50" dirty="0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8D44AD71-33A1-FB33-87FF-EB0068B5D5D1}"/>
              </a:ext>
            </a:extLst>
          </p:cNvPr>
          <p:cNvSpPr/>
          <p:nvPr/>
        </p:nvSpPr>
        <p:spPr>
          <a:xfrm rot="10800000">
            <a:off x="506187" y="4250065"/>
            <a:ext cx="932088" cy="2021643"/>
          </a:xfrm>
          <a:prstGeom prst="round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21">
            <a:extLst>
              <a:ext uri="{FF2B5EF4-FFF2-40B4-BE49-F238E27FC236}">
                <a16:creationId xmlns:a16="http://schemas.microsoft.com/office/drawing/2014/main" id="{A4FA7CA3-FC5B-9C0D-3C72-43B7CCE33A49}"/>
              </a:ext>
            </a:extLst>
          </p:cNvPr>
          <p:cNvSpPr/>
          <p:nvPr/>
        </p:nvSpPr>
        <p:spPr>
          <a:xfrm rot="10800000">
            <a:off x="486456" y="2386289"/>
            <a:ext cx="932088" cy="1666780"/>
          </a:xfrm>
          <a:prstGeom prst="round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5253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validated, and on the regulatory path.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157413"/>
            <a:ext cx="5359375" cy="2494359"/>
          </a:xfrm>
          <a:prstGeom prst="roundRect">
            <a:avLst>
              <a:gd name="adj" fmla="val 5346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90625" y="2357438"/>
            <a:ext cx="50296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90625" y="2714625"/>
            <a:ext cx="50296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MVP prototype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90625" y="3171825"/>
            <a:ext cx="502961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onboarding and debt aggregation flow built on React Native / Expo. Accessible at olfi-prototype.vercel.app — demonstrating the core user journey end-to-end.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64275" y="2157413"/>
            <a:ext cx="5359375" cy="2494359"/>
          </a:xfrm>
          <a:prstGeom prst="roundRect">
            <a:avLst>
              <a:gd name="adj" fmla="val 5346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2400" y="2357438"/>
            <a:ext cx="50296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02400" y="2714625"/>
            <a:ext cx="50296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 deployed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2400" y="3171825"/>
            <a:ext cx="502961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Consumer-facing site live at olfi.vercel.app. Brand identity, positioning, and value proposition established. SEO and pre-launch waitlist infrastructure in place.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76050" y="2157413"/>
            <a:ext cx="5359450" cy="2494359"/>
          </a:xfrm>
          <a:prstGeom prst="roundRect">
            <a:avLst>
              <a:gd name="adj" fmla="val 534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214175" y="2357438"/>
            <a:ext cx="50296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14175" y="2714625"/>
            <a:ext cx="50296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conversations underway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14175" y="3171825"/>
            <a:ext cx="502969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outreach to DIB, Emirates Islamic, ADIB, and specialist lenders. Partnership framework and success-fee structure validated with multiple institutions.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4804172"/>
            <a:ext cx="5359375" cy="2494359"/>
          </a:xfrm>
          <a:prstGeom prst="roundRect">
            <a:avLst>
              <a:gd name="adj" fmla="val 534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90625" y="5004197"/>
            <a:ext cx="50296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90625" y="5361384"/>
            <a:ext cx="50296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DIFC sandbox application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90625" y="5818584"/>
            <a:ext cx="502961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DIFC Innovation Hub identified as regulatory entry point. CBUAE Open Banking framework alignment documented. Legal entity incorporation in Q2 2026.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64275" y="4804172"/>
            <a:ext cx="5359375" cy="2494359"/>
          </a:xfrm>
          <a:prstGeom prst="roundRect">
            <a:avLst>
              <a:gd name="adj" fmla="val 534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02400" y="5004197"/>
            <a:ext cx="502961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02400" y="5361384"/>
            <a:ext cx="50296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 Advisory Board seating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02400" y="5818584"/>
            <a:ext cx="502961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reserved for 2 AAOIFI-certified scholars + 1 Islamic banking practitioner. Quarterly certification audits scoped. Sharia governance structure defined.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976050" y="4804172"/>
            <a:ext cx="5359450" cy="2494359"/>
          </a:xfrm>
          <a:prstGeom prst="roundRect">
            <a:avLst>
              <a:gd name="adj" fmla="val 534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214175" y="5004197"/>
            <a:ext cx="502969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TARGET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14175" y="5361384"/>
            <a:ext cx="50296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9-month milestones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214175" y="5818584"/>
            <a:ext cx="502969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registered users · 3 lender API integrations live · AECB API integrated · Sandbox-ready MVP shipped · Core team of 8 on-boarded.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7603331"/>
            <a:ext cx="16383000" cy="2037308"/>
          </a:xfrm>
          <a:prstGeom prst="roundRect">
            <a:avLst>
              <a:gd name="adj" fmla="val 6545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45869" y="7612856"/>
            <a:ext cx="9525" cy="2018258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90625" y="7803356"/>
            <a:ext cx="3735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90625" y="8141494"/>
            <a:ext cx="37354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MVP + 3 Lender APIs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90625" y="8846344"/>
            <a:ext cx="373544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AECB integration, OCR/KYC flow, first lender onboarded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39238" y="7612856"/>
            <a:ext cx="9525" cy="2018258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83994" y="7803356"/>
            <a:ext cx="3735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M4–M6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3994" y="8141494"/>
            <a:ext cx="373544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Users · Sharia Board Live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5283994" y="8846344"/>
            <a:ext cx="373544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launch, first refinance deals closed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232606" y="7612856"/>
            <a:ext cx="9525" cy="2018258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377363" y="7803356"/>
            <a:ext cx="3735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77363" y="8141494"/>
            <a:ext cx="3735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Users · Seed Ready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377363" y="8522494"/>
            <a:ext cx="373544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CAC &lt; AED 100, conversion data, lender pipeline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470731" y="7803356"/>
            <a:ext cx="3735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M10–M18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470731" y="8141494"/>
            <a:ext cx="373544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Close · Scale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3470731" y="8522494"/>
            <a:ext cx="373544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$12–15M Seed, 5+ lenders, KSA sandbox entry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bottom line from Year 1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906260" y="4210035"/>
            <a:ext cx="103599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773306" y="4691048"/>
            <a:ext cx="3225775" cy="9525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04487" y="5757847"/>
            <a:ext cx="8395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39514" y="3524235"/>
            <a:ext cx="103070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03881" y="4005248"/>
            <a:ext cx="3225850" cy="1638300"/>
          </a:xfrm>
          <a:prstGeom prst="roundRect">
            <a:avLst>
              <a:gd name="adj" fmla="val 4651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8422" y="5757847"/>
            <a:ext cx="8928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873574" y="2686035"/>
            <a:ext cx="122388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$20.5M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834531" y="3167048"/>
            <a:ext cx="3225775" cy="2476500"/>
          </a:xfrm>
          <a:prstGeom prst="roundRect">
            <a:avLst>
              <a:gd name="adj" fmla="val 307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37285" y="5757847"/>
            <a:ext cx="89639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773306" y="6348398"/>
            <a:ext cx="2400300" cy="1562100"/>
          </a:xfrm>
          <a:prstGeom prst="roundRect">
            <a:avLst>
              <a:gd name="adj" fmla="val 7317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11431" y="6548423"/>
            <a:ext cx="20002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011431" y="7091348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→ Y2 growth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02206" y="6348398"/>
            <a:ext cx="2400300" cy="1562100"/>
          </a:xfrm>
          <a:prstGeom prst="roundRect">
            <a:avLst>
              <a:gd name="adj" fmla="val 7317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40331" y="6548423"/>
            <a:ext cx="20002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640331" y="7091348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→ Y3 growth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031106" y="6348398"/>
            <a:ext cx="2400300" cy="1562100"/>
          </a:xfrm>
          <a:prstGeom prst="roundRect">
            <a:avLst>
              <a:gd name="adj" fmla="val 7317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69231" y="6548423"/>
            <a:ext cx="20002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95.3%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269231" y="7091348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Y1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660006" y="6348398"/>
            <a:ext cx="2400300" cy="1562100"/>
          </a:xfrm>
          <a:prstGeom prst="roundRect">
            <a:avLst>
              <a:gd name="adj" fmla="val 7317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98131" y="6548423"/>
            <a:ext cx="20002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kern="0" spc="-99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Y1+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898131" y="7091348"/>
            <a:ext cx="2000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from Y1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category. No direct competitor exists.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947863"/>
            <a:ext cx="16383000" cy="928688"/>
          </a:xfrm>
          <a:prstGeom prst="roundRect">
            <a:avLst>
              <a:gd name="adj" fmla="val 14359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2156" y="2363712"/>
            <a:ext cx="96988" cy="96988"/>
          </a:xfrm>
          <a:prstGeom prst="ellipse">
            <a:avLst/>
          </a:prstGeom>
          <a:solidFill>
            <a:srgbClr val="10B981">
              <a:alpha val="9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6875" y="2250281"/>
            <a:ext cx="95250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GCC's first end-to-end digital Sharia-compliant refinance platform.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674379" y="2166938"/>
            <a:ext cx="2270596" cy="490538"/>
          </a:xfrm>
          <a:prstGeom prst="roundRect">
            <a:avLst>
              <a:gd name="adj" fmla="val 15534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912504" y="2271713"/>
            <a:ext cx="187054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219450"/>
            <a:ext cx="11430000" cy="6167438"/>
          </a:xfrm>
          <a:prstGeom prst="roundRect">
            <a:avLst>
              <a:gd name="adj" fmla="val 2471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2025" y="3228975"/>
            <a:ext cx="11410950" cy="914400"/>
          </a:xfrm>
          <a:prstGeom prst="rect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2025" y="4133850"/>
            <a:ext cx="11410950" cy="9525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90625" y="3400425"/>
            <a:ext cx="354229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7845" y="3400425"/>
            <a:ext cx="179576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63605" y="3400425"/>
            <a:ext cx="21272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YALLACOMPARE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0880" y="3400425"/>
            <a:ext cx="179576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BANKS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86640" y="3400425"/>
            <a:ext cx="179576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2025" y="4143375"/>
            <a:ext cx="11410950" cy="93345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2025" y="5067300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2025" y="4143375"/>
            <a:ext cx="28575" cy="933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9200" y="4238625"/>
            <a:ext cx="364630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Multi-lender debt aggregation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3316" y="4455319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34263" y="446246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280550" y="446246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126763" y="446246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62025" y="5076825"/>
            <a:ext cx="11410950" cy="93345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2025" y="6000750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2025" y="5076825"/>
            <a:ext cx="28575" cy="933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19200" y="5172075"/>
            <a:ext cx="364630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Sharia-compliant conversion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73316" y="5388769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434263" y="539591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536112" y="5407819"/>
            <a:ext cx="17537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bank only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126763" y="539591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62025" y="6010275"/>
            <a:ext cx="11410950" cy="93345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2025" y="6934200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2025" y="6010275"/>
            <a:ext cx="28575" cy="933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19200" y="6105525"/>
            <a:ext cx="364630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end-to-end settlement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573316" y="6322219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434263" y="632936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8784134" y="6341269"/>
            <a:ext cx="125774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visit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126763" y="6329363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62025" y="6943725"/>
            <a:ext cx="11410950" cy="566738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62025" y="7500938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62025" y="6943725"/>
            <a:ext cx="28575" cy="5667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19200" y="7038975"/>
            <a:ext cx="364630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offer scoring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573316" y="7072313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7249120" y="7091363"/>
            <a:ext cx="6351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934301" y="7079456"/>
            <a:ext cx="9574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0925175" y="7079456"/>
            <a:ext cx="6682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62025" y="7510462"/>
            <a:ext cx="11410950" cy="93345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62025" y="8434388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2025" y="7510462"/>
            <a:ext cx="28575" cy="933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219200" y="7605713"/>
            <a:ext cx="364630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AECB live credit tracking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5573316" y="7822406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7434263" y="7829550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9089082" y="7841456"/>
            <a:ext cx="6479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126763" y="7829550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962025" y="8443913"/>
            <a:ext cx="11410950" cy="93345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62025" y="9367838"/>
            <a:ext cx="11410950" cy="9525"/>
          </a:xfrm>
          <a:prstGeom prst="rect">
            <a:avLst/>
          </a:prstGeom>
          <a:solidFill>
            <a:srgbClr val="E1DED1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62025" y="8443913"/>
            <a:ext cx="28575" cy="9334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19200" y="8539163"/>
            <a:ext cx="3646303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Post-refinance management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5573316" y="8755856"/>
            <a:ext cx="2943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7434263" y="8763000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9280550" y="8763000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11126763" y="8763000"/>
            <a:ext cx="2649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2954000" y="3219450"/>
            <a:ext cx="4381500" cy="5904830"/>
          </a:xfrm>
          <a:prstGeom prst="roundRect">
            <a:avLst>
              <a:gd name="adj" fmla="val 3043"/>
            </a:avLst>
          </a:prstGeom>
          <a:solidFill>
            <a:srgbClr val="133030"/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3192125" y="3457575"/>
            <a:ext cx="402240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UNCLAIMED QUADRANT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13192125" y="4238625"/>
            <a:ext cx="4022407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+ Sharia-compliant + Multi-lender + Execution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13192125" y="5606281"/>
            <a:ext cx="402240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cannot do it — they only sell their own paper.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3192125" y="6379592"/>
            <a:ext cx="402240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Aggregators will not do it — they collect leads, not close loans.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3192125" y="7152903"/>
            <a:ext cx="402240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cannot scale it — offline, manual, conventional-only.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3192125" y="7926214"/>
            <a:ext cx="402240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is a new infrastructure layer — a category that does not yet exist in the GCC.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High-intent acquisition. Low-cost retention.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947863"/>
            <a:ext cx="12001500" cy="933450"/>
          </a:xfrm>
          <a:prstGeom prst="roundRect">
            <a:avLst>
              <a:gd name="adj" fmla="val 12245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52525" y="220503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4425" y="220503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62125" y="2090738"/>
            <a:ext cx="17907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667125" y="2094607"/>
            <a:ext cx="93594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High-intent keywords: 'debt consolidation UAE', 'halal finance UAE', 'buyout UAE'. Users already searching for OLFI's exact solution.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995613"/>
            <a:ext cx="12001500" cy="933450"/>
          </a:xfrm>
          <a:prstGeom prst="roundRect">
            <a:avLst>
              <a:gd name="adj" fmla="val 12245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52525" y="325278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4425" y="325278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62125" y="3138488"/>
            <a:ext cx="17907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+ TikTok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67125" y="3142357"/>
            <a:ext cx="93594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ads in expat WhatsApp groups, Facebook communities. 'Save AED 3,000/mo' before-and-after creative tested across Instagram and TikTok.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4043363"/>
            <a:ext cx="12001500" cy="933450"/>
          </a:xfrm>
          <a:prstGeom prst="roundRect">
            <a:avLst>
              <a:gd name="adj" fmla="val 12245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52525" y="430053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4425" y="430053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62125" y="4186238"/>
            <a:ext cx="17907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Channels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667125" y="4190107"/>
            <a:ext cx="93594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partnerships (Bayzat, Hafilat, Emirates HR) position OLFI as a financial wellness benefit. Zero CAC channel at scale.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5091113"/>
            <a:ext cx="12001500" cy="1257300"/>
          </a:xfrm>
          <a:prstGeom prst="roundRect">
            <a:avLst>
              <a:gd name="adj" fmla="val 9091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52525" y="5510213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4425" y="551021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🕌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62125" y="5233988"/>
            <a:ext cx="17907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Finance Influencers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667125" y="5399782"/>
            <a:ext cx="93594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Credibility-led acquisition for Emirati and Muslim segments. Arabic-language content on Sharia-compliant debt management in the GCC.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6462713"/>
            <a:ext cx="12001500" cy="933450"/>
          </a:xfrm>
          <a:prstGeom prst="roundRect">
            <a:avLst>
              <a:gd name="adj" fmla="val 12245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52525" y="6719888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14425" y="671988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762125" y="6605588"/>
            <a:ext cx="17907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Credit Check Hook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3667125" y="6609457"/>
            <a:ext cx="93594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Soft-inquiry credit health check with zero fees — no profile required for offer previews. Primary top-of-funnel activation mechanism.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49300" y="700088"/>
            <a:ext cx="4000500" cy="4810125"/>
          </a:xfrm>
          <a:prstGeom prst="roundRect">
            <a:avLst>
              <a:gd name="adj" fmla="val 3333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63625" y="976313"/>
            <a:ext cx="347300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3763625" y="2233613"/>
            <a:ext cx="33718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63625" y="1850231"/>
            <a:ext cx="26254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→ Sign-up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6312604" y="1843088"/>
            <a:ext cx="8228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&gt;10%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3763625" y="3148013"/>
            <a:ext cx="33718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763625" y="2462213"/>
            <a:ext cx="257428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→ Offer view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6261705" y="2609850"/>
            <a:ext cx="8737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&gt;50%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3763625" y="3767138"/>
            <a:ext cx="33718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763625" y="3383756"/>
            <a:ext cx="2568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→ Acceptance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6255529" y="3376613"/>
            <a:ext cx="8799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&gt;30%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3763625" y="4681538"/>
            <a:ext cx="33718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763625" y="3995738"/>
            <a:ext cx="197405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→ Funded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5661481" y="4143375"/>
            <a:ext cx="14739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&lt;15% drop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3763625" y="4917281"/>
            <a:ext cx="24916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conversion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6179031" y="4910138"/>
            <a:ext cx="9564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~4.2%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3449300" y="5643563"/>
            <a:ext cx="4000500" cy="4105275"/>
          </a:xfrm>
          <a:prstGeom prst="roundRect">
            <a:avLst>
              <a:gd name="adj" fmla="val 333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763625" y="5919788"/>
            <a:ext cx="34730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3763625" y="6453188"/>
            <a:ext cx="229329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traffic (36 months)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5980718" y="6453188"/>
            <a:ext cx="123095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3763625" y="7262813"/>
            <a:ext cx="21517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Refinanced users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6210285" y="7262813"/>
            <a:ext cx="10013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cs typeface="Arial" pitchFamily="34" charset="-120"/>
              </a:rPr>
              <a:t>   3500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3763625" y="7777163"/>
            <a:ext cx="6392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5282788" y="7777163"/>
            <a:ext cx="19288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(~$100)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13763625" y="8291513"/>
            <a:ext cx="23438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 consolidated (Y1)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16439459" y="8291513"/>
            <a:ext cx="118043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AED   101M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13763625" y="9129713"/>
            <a:ext cx="19739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target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16317144" y="9129713"/>
            <a:ext cx="8945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&gt;60%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with the right domain depth.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985963"/>
            <a:ext cx="6153150" cy="7805738"/>
          </a:xfrm>
          <a:prstGeom prst="roundRect">
            <a:avLst>
              <a:gd name="adj" fmla="val 2786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28725" y="2224088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90625" y="2224088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28725" y="3024188"/>
            <a:ext cx="5768721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Osman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28725" y="3359423"/>
            <a:ext cx="57687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28725" y="3797573"/>
            <a:ext cx="5768721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UAE-based product operator leading strategy, lender partnerships, and Sharia governance. Responsible for vision, fundraising, and product-market strategy. Deep understanding of the UAE consumer finance landscape and Islamic finance ecosystem.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8725" y="8158163"/>
            <a:ext cx="2860774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52550" y="8224837"/>
            <a:ext cx="269894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28725" y="8648700"/>
            <a:ext cx="3194745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52550" y="8715375"/>
            <a:ext cx="304293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PARTNERSHIPS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28725" y="9139238"/>
            <a:ext cx="2478881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52550" y="9205912"/>
            <a:ext cx="230743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FINANCE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83806" y="9139238"/>
            <a:ext cx="1975321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7631" y="9205912"/>
            <a:ext cx="180387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34250" y="1985963"/>
            <a:ext cx="6153150" cy="7805738"/>
          </a:xfrm>
          <a:prstGeom prst="roundRect">
            <a:avLst>
              <a:gd name="adj" fmla="val 2786"/>
            </a:avLst>
          </a:prstGeom>
          <a:solidFill>
            <a:srgbClr val="133030"/>
          </a:solidFill>
          <a:ln w="9525">
            <a:solidFill>
              <a:srgbClr val="E1DED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10475" y="2224088"/>
            <a:ext cx="685800" cy="68580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72375" y="2224088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610475" y="3024188"/>
            <a:ext cx="5768721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A. Alaaeldin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10475" y="3359423"/>
            <a:ext cx="57687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CTO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610475" y="3797573"/>
            <a:ext cx="5768721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and data lead responsible for the OLFI platform, AECB and open-banking integrations. Architected the React Native / Expo app, Node.js + Python backend, and AI scoring engine. Drives tech infrastructure, product roadmap, security and compliance systems.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10475" y="8648700"/>
            <a:ext cx="2072804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34300" y="8715375"/>
            <a:ext cx="190135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759479" y="8648700"/>
            <a:ext cx="2816126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83304" y="8715375"/>
            <a:ext cx="26529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APIS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10475" y="9139238"/>
            <a:ext cx="1115095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34300" y="9205912"/>
            <a:ext cx="9436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801770" y="9139238"/>
            <a:ext cx="2387724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25595" y="9205912"/>
            <a:ext cx="221627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SUPABASE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63625" y="334790"/>
            <a:ext cx="372808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ADVISORY BOARD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3763625" y="1134890"/>
            <a:ext cx="3619500" cy="2281833"/>
          </a:xfrm>
          <a:prstGeom prst="roundRect">
            <a:avLst>
              <a:gd name="adj" fmla="val 5009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963650" y="1373015"/>
            <a:ext cx="114300" cy="11430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230350" y="1296815"/>
            <a:ext cx="30413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Compliance &amp; Sharia Officer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230350" y="1974875"/>
            <a:ext cx="304133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Islamic bank advisor, AAOIFI-certified. Murābaḥa, Tawarruq, and fintech Sharia frameworks. (Hiring)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763625" y="3531022"/>
            <a:ext cx="3619500" cy="1961852"/>
          </a:xfrm>
          <a:prstGeom prst="roundRect">
            <a:avLst>
              <a:gd name="adj" fmla="val 582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963650" y="3769147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230350" y="3692947"/>
            <a:ext cx="30413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Operations Officer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4230350" y="4371008"/>
            <a:ext cx="304133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fintech scaler. Lifecycle operations and regulatory comms. (Hiring)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763625" y="5607175"/>
            <a:ext cx="3619500" cy="1961852"/>
          </a:xfrm>
          <a:prstGeom prst="roundRect">
            <a:avLst>
              <a:gd name="adj" fmla="val 5826"/>
            </a:avLst>
          </a:prstGeom>
          <a:solidFill>
            <a:srgbClr val="133030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963650" y="5845300"/>
            <a:ext cx="114300" cy="114300"/>
          </a:xfrm>
          <a:prstGeom prst="ellipse">
            <a:avLst/>
          </a:prstGeom>
          <a:solidFill>
            <a:srgbClr val="E1DED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4230350" y="5769100"/>
            <a:ext cx="304133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Regulation Advisor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4230350" y="6447161"/>
            <a:ext cx="304133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CBUAE sandbox participant. GCC fintech-focused investor.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3763625" y="7683327"/>
            <a:ext cx="3619500" cy="2247900"/>
          </a:xfrm>
          <a:prstGeom prst="roundRect">
            <a:avLst>
              <a:gd name="adj" fmla="val 5085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039850" y="7921452"/>
            <a:ext cx="31590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hiring plan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4039850" y="8321502"/>
            <a:ext cx="315906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devs · Sharia compliance analyst · UX lead · Marketing lead · Lender relations executive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4298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2.5M to ship, validate, and reach escape velocity.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985963"/>
            <a:ext cx="10096500" cy="2300288"/>
          </a:xfrm>
          <a:prstGeom prst="roundRect">
            <a:avLst>
              <a:gd name="adj" fmla="val 7453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2262188"/>
            <a:ext cx="975188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kern="0" spc="-2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2.5M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66825" y="3081338"/>
            <a:ext cx="975188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~Pre-Seed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66825" y="3700463"/>
            <a:ext cx="975188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18–20 months runway. Next raise: USD 12–15M Seed for GCC expansion.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4591050"/>
            <a:ext cx="103993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5067300"/>
            <a:ext cx="37099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Infrastructure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7969" y="5067300"/>
            <a:ext cx="7072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448300"/>
            <a:ext cx="10096500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2500" y="5448300"/>
            <a:ext cx="403860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5695950"/>
            <a:ext cx="26344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44311" y="5695950"/>
            <a:ext cx="6808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6076950"/>
            <a:ext cx="10096500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2500" y="6076950"/>
            <a:ext cx="2524125" cy="952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2500" y="6324600"/>
            <a:ext cx="2603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&amp; Operations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30470" y="6324600"/>
            <a:ext cx="6947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" y="6705600"/>
            <a:ext cx="10096500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2500" y="6705600"/>
            <a:ext cx="2019300" cy="95250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500" y="6953250"/>
            <a:ext cx="31812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Licensing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83379" y="6953250"/>
            <a:ext cx="6418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" y="7334250"/>
            <a:ext cx="10096500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2500" y="7334250"/>
            <a:ext cx="1009650" cy="95250"/>
          </a:xfrm>
          <a:prstGeom prst="roundRect">
            <a:avLst>
              <a:gd name="adj" fmla="val 50000"/>
            </a:avLst>
          </a:prstGeom>
          <a:solidFill>
            <a:srgbClr val="4FD1C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2500" y="7581900"/>
            <a:ext cx="19881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Buffer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612264" y="7581900"/>
            <a:ext cx="5129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2500" y="7962900"/>
            <a:ext cx="10096500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2500" y="7962900"/>
            <a:ext cx="504825" cy="95250"/>
          </a:xfrm>
          <a:prstGeom prst="roundRect">
            <a:avLst>
              <a:gd name="adj" fmla="val 50000"/>
            </a:avLst>
          </a:prstGeom>
          <a:solidFill>
            <a:srgbClr val="E1DED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620500" y="1985963"/>
            <a:ext cx="5715000" cy="5036046"/>
          </a:xfrm>
          <a:prstGeom prst="roundRect">
            <a:avLst>
              <a:gd name="adj" fmla="val 2648"/>
            </a:avLst>
          </a:prstGeom>
          <a:solidFill>
            <a:srgbClr val="0A2525"/>
          </a:solidFill>
          <a:ln w="9525">
            <a:solidFill>
              <a:srgbClr val="E1DED1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630025" y="3551634"/>
            <a:ext cx="56959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858625" y="2128838"/>
            <a:ext cx="1219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30225" y="2128838"/>
            <a:ext cx="3983165" cy="132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MVP · 3 lender APIs · 500 users · Sharia Board. </a:t>
            </a: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data, regulatory positioning, first closed deals.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630025" y="5442049"/>
            <a:ext cx="5695950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58625" y="3694509"/>
            <a:ext cx="1219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230225" y="3694509"/>
            <a:ext cx="3983165" cy="1652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$12–15M · Scale UAE to 10,000+ users · 10+ lenders · KSA sandbox entry. </a:t>
            </a: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commercial launch, subscription tier live, ML scoring mature.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58625" y="5584924"/>
            <a:ext cx="121920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30225" y="5584924"/>
            <a:ext cx="3983165" cy="1332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 · Kuwait, Oman · API licensing · Own-brand products. </a:t>
            </a: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target: USD 100–500M valuation.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620500" y="7174409"/>
            <a:ext cx="5715000" cy="1733550"/>
          </a:xfrm>
          <a:prstGeom prst="roundRect">
            <a:avLst>
              <a:gd name="adj" fmla="val 7692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749979" y="7374434"/>
            <a:ext cx="143648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10–19%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1749980" y="7779246"/>
            <a:ext cx="1436489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stake (pre-seed)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3223602" y="7374434"/>
            <a:ext cx="195589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$100–500M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3223602" y="7779246"/>
            <a:ext cx="1955899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valuation at Series A (Y3)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5350877" y="7374434"/>
            <a:ext cx="206558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10–33×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5350877" y="7779246"/>
            <a:ext cx="2065586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return potential in 3 years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68000" y="-952500"/>
            <a:ext cx="5715000" cy="57150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52500" y="647700"/>
            <a:ext cx="1687449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the wild. Try it yourself.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1928813"/>
            <a:ext cx="7805738" cy="666750"/>
          </a:xfrm>
          <a:prstGeom prst="roundRect">
            <a:avLst>
              <a:gd name="adj" fmla="val 14286"/>
            </a:avLst>
          </a:prstGeom>
          <a:solidFill>
            <a:srgbClr val="133030"/>
          </a:solidFill>
          <a:ln w="9525">
            <a:solidFill>
              <a:srgbClr val="E1DED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2525" y="2205038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2205038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09725" y="220503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38325" y="2052637"/>
            <a:ext cx="5515496" cy="419100"/>
          </a:xfrm>
          <a:prstGeom prst="roundRect">
            <a:avLst>
              <a:gd name="adj" fmla="val 13636"/>
            </a:avLst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0725" y="2128838"/>
            <a:ext cx="5376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olfi.vercel.app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68121" y="2055019"/>
            <a:ext cx="1090092" cy="414338"/>
          </a:xfrm>
          <a:prstGeom prst="roundRect">
            <a:avLst>
              <a:gd name="adj" fmla="val 13793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0046" y="2121694"/>
            <a:ext cx="8424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2728913"/>
            <a:ext cx="7805738" cy="6696075"/>
          </a:xfrm>
          <a:prstGeom prst="roundRect">
            <a:avLst>
              <a:gd name="adj" fmla="val 2276"/>
            </a:avLst>
          </a:prstGeom>
          <a:solidFill>
            <a:srgbClr val="011819"/>
          </a:solidFill>
          <a:ln w="9525">
            <a:solidFill>
              <a:srgbClr val="10B981">
                <a:alpha val="20000"/>
              </a:srgbClr>
            </a:solidFill>
            <a:prstDash val="solid"/>
          </a:ln>
          <a:effectLst>
            <a:outerShdw blurRad="609600" dist="2286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2025" y="2738438"/>
            <a:ext cx="7786688" cy="762000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2025" y="3490913"/>
            <a:ext cx="7786688" cy="9525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28725" y="2952750"/>
            <a:ext cx="6648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</a:t>
            </a: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680767" y="2995613"/>
            <a:ext cx="9031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698230" y="2995613"/>
            <a:ext cx="13064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19018" y="2995613"/>
            <a:ext cx="93806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844233" y="2909888"/>
            <a:ext cx="1637779" cy="409575"/>
          </a:xfrm>
          <a:prstGeom prst="roundRect">
            <a:avLst>
              <a:gd name="adj" fmla="val 4651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34733" y="2986088"/>
            <a:ext cx="13329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Waitlist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62025" y="3500438"/>
            <a:ext cx="7786688" cy="3419475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28725" y="3805237"/>
            <a:ext cx="74708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6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· UAE · SHARIA COMPLIANT ✦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28725" y="4157663"/>
            <a:ext cx="747088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your loan payments </a:t>
            </a:r>
            <a:r>
              <a:rPr lang="en-US" sz="3000" b="1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Refinance smarter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228725" y="5110163"/>
            <a:ext cx="490537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E1DED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aggregates Islamic finance offers into a single hub. Bias-free AI builds your precise refinancing plan.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28725" y="6243638"/>
            <a:ext cx="2318147" cy="4476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57325" y="6338888"/>
            <a:ext cx="19371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waitlist →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62025" y="6919913"/>
            <a:ext cx="7786688" cy="1166813"/>
          </a:xfrm>
          <a:prstGeom prst="rect">
            <a:avLst/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2025" y="6919913"/>
            <a:ext cx="7786688" cy="9525"/>
          </a:xfrm>
          <a:prstGeom prst="rect">
            <a:avLst/>
          </a:prstGeom>
          <a:solidFill>
            <a:srgbClr val="E1DED1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28725" y="7081838"/>
            <a:ext cx="2341513" cy="852488"/>
          </a:xfrm>
          <a:prstGeom prst="roundRect">
            <a:avLst>
              <a:gd name="adj" fmla="val 8939"/>
            </a:avLst>
          </a:prstGeom>
          <a:solidFill>
            <a:srgbClr val="0A2525"/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90650" y="7224713"/>
            <a:ext cx="20938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Outstanding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90650" y="7467600"/>
            <a:ext cx="209386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120,000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3684538" y="7081838"/>
            <a:ext cx="2341587" cy="852488"/>
          </a:xfrm>
          <a:prstGeom prst="roundRect">
            <a:avLst>
              <a:gd name="adj" fmla="val 8939"/>
            </a:avLst>
          </a:prstGeom>
          <a:solidFill>
            <a:srgbClr val="0A2525"/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6463" y="7224713"/>
            <a:ext cx="20939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Monthly Saving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3846463" y="7467600"/>
            <a:ext cx="20939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1,400+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140425" y="7081838"/>
            <a:ext cx="2341587" cy="852488"/>
          </a:xfrm>
          <a:prstGeom prst="roundRect">
            <a:avLst>
              <a:gd name="adj" fmla="val 8939"/>
            </a:avLst>
          </a:prstGeom>
          <a:solidFill>
            <a:srgbClr val="0A2525"/>
          </a:solidFill>
          <a:ln w="9525">
            <a:solidFill>
              <a:srgbClr val="10B98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2350" y="7224713"/>
            <a:ext cx="20939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 Offers Found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6302350" y="7467600"/>
            <a:ext cx="20939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certified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62025" y="8086725"/>
            <a:ext cx="7786688" cy="1328738"/>
          </a:xfrm>
          <a:prstGeom prst="rect">
            <a:avLst/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28725" y="8239125"/>
            <a:ext cx="2354238" cy="985838"/>
          </a:xfrm>
          <a:prstGeom prst="roundRect">
            <a:avLst>
              <a:gd name="adj" fmla="val 7729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228725" y="8239125"/>
            <a:ext cx="28575" cy="9858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90650" y="8353425"/>
            <a:ext cx="21351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 Islamic Bank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390650" y="8610600"/>
            <a:ext cx="213516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4.49%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390650" y="8910638"/>
            <a:ext cx="21351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Personal Finance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3678213" y="8239125"/>
            <a:ext cx="2354312" cy="985838"/>
          </a:xfrm>
          <a:prstGeom prst="roundRect">
            <a:avLst>
              <a:gd name="adj" fmla="val 7729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78213" y="8239125"/>
            <a:ext cx="28575" cy="985838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138" y="8353425"/>
            <a:ext cx="21352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Hilal Bank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3840138" y="8610600"/>
            <a:ext cx="213523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4.85%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3840138" y="8910638"/>
            <a:ext cx="21352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Halal Cash Loan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6127775" y="8239125"/>
            <a:ext cx="2354238" cy="985838"/>
          </a:xfrm>
          <a:prstGeom prst="roundRect">
            <a:avLst>
              <a:gd name="adj" fmla="val 7729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127775" y="8239125"/>
            <a:ext cx="28575" cy="985838"/>
          </a:xfrm>
          <a:prstGeom prst="rect">
            <a:avLst/>
          </a:prstGeom>
          <a:solidFill>
            <a:srgbClr val="E1DED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89700" y="8353425"/>
            <a:ext cx="21351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ADIB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6289700" y="8610600"/>
            <a:ext cx="213516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5.10%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6289700" y="8910638"/>
            <a:ext cx="21351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Refinance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952500" y="9516837"/>
            <a:ext cx="55312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 · waitlist · savings calculator · FAQ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6264039" y="9525000"/>
            <a:ext cx="2435572" cy="649062"/>
          </a:xfrm>
          <a:prstGeom prst="roundRect">
            <a:avLst>
              <a:gd name="adj" fmla="val 8889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hlinkClick r:id="rId3"/>
          </p:cNvPr>
          <p:cNvSpPr/>
          <p:nvPr/>
        </p:nvSpPr>
        <p:spPr>
          <a:xfrm>
            <a:off x="6528594" y="9533846"/>
            <a:ext cx="211172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u="sng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olfi.vercel.app ↗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9139238" y="1928813"/>
            <a:ext cx="9525" cy="7862888"/>
          </a:xfrm>
          <a:prstGeom prst="rect">
            <a:avLst/>
          </a:prstGeom>
          <a:solidFill>
            <a:srgbClr val="E1DED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529763" y="1928813"/>
            <a:ext cx="7805738" cy="666750"/>
          </a:xfrm>
          <a:prstGeom prst="roundRect">
            <a:avLst>
              <a:gd name="adj" fmla="val 14286"/>
            </a:avLst>
          </a:prstGeom>
          <a:solidFill>
            <a:srgbClr val="133030"/>
          </a:solidFill>
          <a:ln w="9525">
            <a:solidFill>
              <a:srgbClr val="E1DED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729788" y="2205038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958388" y="2205038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186988" y="2205038"/>
            <a:ext cx="114300" cy="1143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415588" y="2052637"/>
            <a:ext cx="5486549" cy="419100"/>
          </a:xfrm>
          <a:prstGeom prst="roundRect">
            <a:avLst>
              <a:gd name="adj" fmla="val 13636"/>
            </a:avLst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567988" y="2128838"/>
            <a:ext cx="5346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1DED1">
                    <a:alpha val="50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olfi-prototype.vercel.app/onboarding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6016436" y="2055019"/>
            <a:ext cx="1119039" cy="414338"/>
          </a:xfrm>
          <a:prstGeom prst="roundRect">
            <a:avLst>
              <a:gd name="adj" fmla="val 13793"/>
            </a:avLst>
          </a:prstGeom>
          <a:solidFill>
            <a:srgbClr val="4FD1C5">
              <a:alpha val="10000"/>
            </a:srgbClr>
          </a:solidFill>
          <a:ln w="9525">
            <a:solidFill>
              <a:srgbClr val="4FD1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6178361" y="2121694"/>
            <a:ext cx="87138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●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0479881" y="2728913"/>
            <a:ext cx="1866900" cy="3800475"/>
          </a:xfrm>
          <a:prstGeom prst="roundRect">
            <a:avLst>
              <a:gd name="adj" fmla="val 14286"/>
            </a:avLst>
          </a:prstGeom>
          <a:solidFill>
            <a:srgbClr val="011819"/>
          </a:solidFill>
          <a:ln w="57150">
            <a:solidFill>
              <a:srgbClr val="1B3B3B"/>
            </a:solidFill>
            <a:prstDash val="solid"/>
          </a:ln>
          <a:effectLst>
            <a:outerShdw blurRad="609600" dist="2286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537031" y="2786063"/>
            <a:ext cx="1752600" cy="228600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184731" y="2862263"/>
            <a:ext cx="457200" cy="76200"/>
          </a:xfrm>
          <a:prstGeom prst="roundRect">
            <a:avLst>
              <a:gd name="adj" fmla="val 50000"/>
            </a:avLst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37031" y="3014663"/>
            <a:ext cx="1752600" cy="3457575"/>
          </a:xfrm>
          <a:prstGeom prst="rect">
            <a:avLst/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89431" y="3205163"/>
            <a:ext cx="381000" cy="38100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10689431" y="3700463"/>
            <a:ext cx="152400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OLFi</a:t>
            </a:r>
            <a:endParaRPr lang="en-US" sz="975" dirty="0"/>
          </a:p>
        </p:txBody>
      </p:sp>
      <p:sp>
        <p:nvSpPr>
          <p:cNvPr id="74" name="Text 71"/>
          <p:cNvSpPr/>
          <p:nvPr/>
        </p:nvSpPr>
        <p:spPr>
          <a:xfrm>
            <a:off x="10689431" y="3963293"/>
            <a:ext cx="152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Sharia-compliant refinance assistant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10689431" y="4382393"/>
            <a:ext cx="1447800" cy="295275"/>
          </a:xfrm>
          <a:prstGeom prst="roundRect">
            <a:avLst>
              <a:gd name="adj" fmla="val 3225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10737056" y="4468118"/>
            <a:ext cx="1352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</a:t>
            </a:r>
            <a:endParaRPr lang="en-US" sz="825" dirty="0"/>
          </a:p>
        </p:txBody>
      </p:sp>
      <p:sp>
        <p:nvSpPr>
          <p:cNvPr id="77" name="Shape 74"/>
          <p:cNvSpPr/>
          <p:nvPr/>
        </p:nvSpPr>
        <p:spPr>
          <a:xfrm>
            <a:off x="10689431" y="4791968"/>
            <a:ext cx="1447800" cy="314325"/>
          </a:xfrm>
          <a:prstGeom prst="roundRect">
            <a:avLst>
              <a:gd name="adj" fmla="val 30303"/>
            </a:avLst>
          </a:prstGeom>
          <a:ln w="9525">
            <a:solidFill>
              <a:srgbClr val="E1DED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10746581" y="4887218"/>
            <a:ext cx="1333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E1DED1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an account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0689431" y="6096000"/>
            <a:ext cx="1447800" cy="9525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0651331" y="6181725"/>
            <a:ext cx="152400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1DED1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· Sharia-certified · UAE</a:t>
            </a:r>
            <a:endParaRPr lang="en-US" sz="675" dirty="0"/>
          </a:p>
        </p:txBody>
      </p:sp>
      <p:sp>
        <p:nvSpPr>
          <p:cNvPr id="81" name="Shape 78"/>
          <p:cNvSpPr/>
          <p:nvPr/>
        </p:nvSpPr>
        <p:spPr>
          <a:xfrm>
            <a:off x="12499181" y="2995613"/>
            <a:ext cx="1866900" cy="3533775"/>
          </a:xfrm>
          <a:prstGeom prst="roundRect">
            <a:avLst>
              <a:gd name="adj" fmla="val 14286"/>
            </a:avLst>
          </a:prstGeom>
          <a:solidFill>
            <a:srgbClr val="011819"/>
          </a:solidFill>
          <a:ln w="57150">
            <a:solidFill>
              <a:srgbClr val="1B3B3B"/>
            </a:solidFill>
            <a:prstDash val="solid"/>
          </a:ln>
          <a:effectLst>
            <a:outerShdw blurRad="609600" dist="2286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12556331" y="3052763"/>
            <a:ext cx="1752600" cy="228600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3204031" y="3128963"/>
            <a:ext cx="457200" cy="76200"/>
          </a:xfrm>
          <a:prstGeom prst="roundRect">
            <a:avLst>
              <a:gd name="adj" fmla="val 50000"/>
            </a:avLst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12556331" y="3281363"/>
            <a:ext cx="1752600" cy="3190875"/>
          </a:xfrm>
          <a:prstGeom prst="rect">
            <a:avLst/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12689681" y="3433763"/>
            <a:ext cx="1562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Debts</a:t>
            </a:r>
            <a:endParaRPr lang="en-US" sz="825" dirty="0"/>
          </a:p>
        </p:txBody>
      </p:sp>
      <p:sp>
        <p:nvSpPr>
          <p:cNvPr id="86" name="Text 83"/>
          <p:cNvSpPr/>
          <p:nvPr/>
        </p:nvSpPr>
        <p:spPr>
          <a:xfrm>
            <a:off x="12689681" y="3652838"/>
            <a:ext cx="1562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145,000</a:t>
            </a:r>
            <a:endParaRPr lang="en-US" sz="1650" dirty="0"/>
          </a:p>
        </p:txBody>
      </p:sp>
      <p:sp>
        <p:nvSpPr>
          <p:cNvPr id="87" name="Text 84"/>
          <p:cNvSpPr/>
          <p:nvPr/>
        </p:nvSpPr>
        <p:spPr>
          <a:xfrm>
            <a:off x="12689681" y="3957638"/>
            <a:ext cx="156210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 facilities</a:t>
            </a:r>
            <a:endParaRPr lang="en-US" sz="675" dirty="0"/>
          </a:p>
        </p:txBody>
      </p:sp>
      <p:sp>
        <p:nvSpPr>
          <p:cNvPr id="88" name="Shape 85"/>
          <p:cNvSpPr/>
          <p:nvPr/>
        </p:nvSpPr>
        <p:spPr>
          <a:xfrm>
            <a:off x="12689681" y="4171950"/>
            <a:ext cx="1485900" cy="366713"/>
          </a:xfrm>
          <a:prstGeom prst="roundRect">
            <a:avLst>
              <a:gd name="adj" fmla="val 18182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2689681" y="4171950"/>
            <a:ext cx="19050" cy="36671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12803981" y="4248150"/>
            <a:ext cx="1352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Loan</a:t>
            </a:r>
            <a:endParaRPr lang="en-US" sz="750" dirty="0"/>
          </a:p>
        </p:txBody>
      </p:sp>
      <p:sp>
        <p:nvSpPr>
          <p:cNvPr id="91" name="Text 88"/>
          <p:cNvSpPr/>
          <p:nvPr/>
        </p:nvSpPr>
        <p:spPr>
          <a:xfrm>
            <a:off x="12803981" y="4362450"/>
            <a:ext cx="13525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 · AED 85,000</a:t>
            </a:r>
            <a:endParaRPr lang="en-US" sz="675" dirty="0"/>
          </a:p>
        </p:txBody>
      </p:sp>
      <p:sp>
        <p:nvSpPr>
          <p:cNvPr id="92" name="Shape 89"/>
          <p:cNvSpPr/>
          <p:nvPr/>
        </p:nvSpPr>
        <p:spPr>
          <a:xfrm>
            <a:off x="12689681" y="4595813"/>
            <a:ext cx="1485900" cy="366713"/>
          </a:xfrm>
          <a:prstGeom prst="roundRect">
            <a:avLst>
              <a:gd name="adj" fmla="val 18182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12689681" y="4595813"/>
            <a:ext cx="19050" cy="366713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12803981" y="4672013"/>
            <a:ext cx="1352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12803981" y="4786313"/>
            <a:ext cx="13525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· AED 22,000</a:t>
            </a:r>
            <a:endParaRPr lang="en-US" sz="675" dirty="0"/>
          </a:p>
        </p:txBody>
      </p:sp>
      <p:sp>
        <p:nvSpPr>
          <p:cNvPr id="96" name="Shape 93"/>
          <p:cNvSpPr/>
          <p:nvPr/>
        </p:nvSpPr>
        <p:spPr>
          <a:xfrm>
            <a:off x="12689681" y="5019675"/>
            <a:ext cx="1485900" cy="366713"/>
          </a:xfrm>
          <a:prstGeom prst="roundRect">
            <a:avLst>
              <a:gd name="adj" fmla="val 18182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12689681" y="5019675"/>
            <a:ext cx="19050" cy="366713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12803981" y="5095875"/>
            <a:ext cx="13525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Finance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12803981" y="5210175"/>
            <a:ext cx="13525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 · AED 38,000</a:t>
            </a:r>
            <a:endParaRPr lang="en-US" sz="675" dirty="0"/>
          </a:p>
        </p:txBody>
      </p:sp>
      <p:sp>
        <p:nvSpPr>
          <p:cNvPr id="100" name="Shape 97"/>
          <p:cNvSpPr/>
          <p:nvPr/>
        </p:nvSpPr>
        <p:spPr>
          <a:xfrm>
            <a:off x="12689681" y="5500688"/>
            <a:ext cx="1485900" cy="457200"/>
          </a:xfrm>
          <a:prstGeom prst="roundRect">
            <a:avLst>
              <a:gd name="adj" fmla="val 14583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12794456" y="5586413"/>
            <a:ext cx="13525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monthly saving</a:t>
            </a:r>
            <a:endParaRPr lang="en-US" sz="675" dirty="0"/>
          </a:p>
        </p:txBody>
      </p:sp>
      <p:sp>
        <p:nvSpPr>
          <p:cNvPr id="102" name="Text 99"/>
          <p:cNvSpPr/>
          <p:nvPr/>
        </p:nvSpPr>
        <p:spPr>
          <a:xfrm>
            <a:off x="12794456" y="5686425"/>
            <a:ext cx="13525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1,840</a:t>
            </a:r>
            <a:endParaRPr lang="en-US" sz="1200" dirty="0"/>
          </a:p>
        </p:txBody>
      </p:sp>
      <p:sp>
        <p:nvSpPr>
          <p:cNvPr id="103" name="Shape 100"/>
          <p:cNvSpPr/>
          <p:nvPr/>
        </p:nvSpPr>
        <p:spPr>
          <a:xfrm>
            <a:off x="12689681" y="6053138"/>
            <a:ext cx="1485900" cy="26670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1"/>
          <p:cNvSpPr/>
          <p:nvPr/>
        </p:nvSpPr>
        <p:spPr>
          <a:xfrm>
            <a:off x="12727781" y="6129338"/>
            <a:ext cx="1409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Sharia Offers →</a:t>
            </a:r>
            <a:endParaRPr lang="en-US" sz="750" dirty="0"/>
          </a:p>
        </p:txBody>
      </p:sp>
      <p:sp>
        <p:nvSpPr>
          <p:cNvPr id="105" name="Shape 102"/>
          <p:cNvSpPr/>
          <p:nvPr/>
        </p:nvSpPr>
        <p:spPr>
          <a:xfrm>
            <a:off x="14518481" y="2728913"/>
            <a:ext cx="1866900" cy="3800475"/>
          </a:xfrm>
          <a:prstGeom prst="roundRect">
            <a:avLst>
              <a:gd name="adj" fmla="val 14286"/>
            </a:avLst>
          </a:prstGeom>
          <a:solidFill>
            <a:srgbClr val="011819"/>
          </a:solidFill>
          <a:ln w="57150">
            <a:solidFill>
              <a:srgbClr val="1B3B3B"/>
            </a:solidFill>
            <a:prstDash val="solid"/>
          </a:ln>
          <a:effectLst>
            <a:outerShdw blurRad="609600" dist="228600" dir="54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14575631" y="2786063"/>
            <a:ext cx="1752600" cy="228600"/>
          </a:xfrm>
          <a:prstGeom prst="rect">
            <a:avLst/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15223331" y="2862263"/>
            <a:ext cx="457200" cy="76200"/>
          </a:xfrm>
          <a:prstGeom prst="roundRect">
            <a:avLst>
              <a:gd name="adj" fmla="val 50000"/>
            </a:avLst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14575631" y="3014663"/>
            <a:ext cx="1752600" cy="3457575"/>
          </a:xfrm>
          <a:prstGeom prst="rect">
            <a:avLst/>
          </a:prstGeom>
          <a:solidFill>
            <a:srgbClr val="0118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14708981" y="3167063"/>
            <a:ext cx="1562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E1DED1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Sharia Offers</a:t>
            </a:r>
            <a:endParaRPr lang="en-US" sz="825" dirty="0"/>
          </a:p>
        </p:txBody>
      </p:sp>
      <p:sp>
        <p:nvSpPr>
          <p:cNvPr id="110" name="Text 107"/>
          <p:cNvSpPr/>
          <p:nvPr/>
        </p:nvSpPr>
        <p:spPr>
          <a:xfrm>
            <a:off x="14708981" y="3367088"/>
            <a:ext cx="156210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Murābaḥa · Ijāra</a:t>
            </a:r>
            <a:endParaRPr lang="en-US" sz="675" dirty="0"/>
          </a:p>
        </p:txBody>
      </p:sp>
      <p:sp>
        <p:nvSpPr>
          <p:cNvPr id="111" name="Shape 108"/>
          <p:cNvSpPr/>
          <p:nvPr/>
        </p:nvSpPr>
        <p:spPr>
          <a:xfrm>
            <a:off x="14708981" y="3543300"/>
            <a:ext cx="1485900" cy="1123950"/>
          </a:xfrm>
          <a:prstGeom prst="roundRect">
            <a:avLst>
              <a:gd name="adj" fmla="val 762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9"/>
          <p:cNvSpPr/>
          <p:nvPr/>
        </p:nvSpPr>
        <p:spPr>
          <a:xfrm>
            <a:off x="14813756" y="3648075"/>
            <a:ext cx="13525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" b="1" kern="0" spc="3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 ★</a:t>
            </a:r>
            <a:endParaRPr lang="en-US" sz="600" dirty="0"/>
          </a:p>
        </p:txBody>
      </p:sp>
      <p:sp>
        <p:nvSpPr>
          <p:cNvPr id="113" name="Text 110"/>
          <p:cNvSpPr/>
          <p:nvPr/>
        </p:nvSpPr>
        <p:spPr>
          <a:xfrm>
            <a:off x="14813756" y="3781425"/>
            <a:ext cx="1352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Dubai Islamic Bank</a:t>
            </a:r>
            <a:endParaRPr lang="en-US" sz="825" dirty="0"/>
          </a:p>
        </p:txBody>
      </p:sp>
      <p:sp>
        <p:nvSpPr>
          <p:cNvPr id="114" name="Text 111"/>
          <p:cNvSpPr/>
          <p:nvPr/>
        </p:nvSpPr>
        <p:spPr>
          <a:xfrm>
            <a:off x="14813756" y="3943350"/>
            <a:ext cx="13525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4.49%</a:t>
            </a:r>
            <a:endParaRPr lang="en-US" sz="1500" dirty="0"/>
          </a:p>
        </p:txBody>
      </p:sp>
      <p:sp>
        <p:nvSpPr>
          <p:cNvPr id="115" name="Text 112"/>
          <p:cNvSpPr/>
          <p:nvPr/>
        </p:nvSpPr>
        <p:spPr>
          <a:xfrm>
            <a:off x="14813756" y="4191000"/>
            <a:ext cx="13525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AED 1,840/mo · Murābaḥa</a:t>
            </a:r>
            <a:endParaRPr lang="en-US" sz="675" dirty="0"/>
          </a:p>
        </p:txBody>
      </p:sp>
      <p:sp>
        <p:nvSpPr>
          <p:cNvPr id="116" name="Shape 113"/>
          <p:cNvSpPr/>
          <p:nvPr/>
        </p:nvSpPr>
        <p:spPr>
          <a:xfrm>
            <a:off x="14813756" y="4348163"/>
            <a:ext cx="1276350" cy="214313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14832806" y="4405313"/>
            <a:ext cx="123825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0118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Now</a:t>
            </a:r>
            <a:endParaRPr lang="en-US" sz="675" dirty="0"/>
          </a:p>
        </p:txBody>
      </p:sp>
      <p:sp>
        <p:nvSpPr>
          <p:cNvPr id="118" name="Shape 115"/>
          <p:cNvSpPr/>
          <p:nvPr/>
        </p:nvSpPr>
        <p:spPr>
          <a:xfrm>
            <a:off x="14708981" y="4743450"/>
            <a:ext cx="1485900" cy="557213"/>
          </a:xfrm>
          <a:prstGeom prst="roundRect">
            <a:avLst>
              <a:gd name="adj" fmla="val 13675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6"/>
          <p:cNvSpPr/>
          <p:nvPr/>
        </p:nvSpPr>
        <p:spPr>
          <a:xfrm>
            <a:off x="14804231" y="4829175"/>
            <a:ext cx="13716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Hilal Bank</a:t>
            </a:r>
            <a:endParaRPr lang="en-US" sz="750" dirty="0"/>
          </a:p>
        </p:txBody>
      </p:sp>
      <p:sp>
        <p:nvSpPr>
          <p:cNvPr id="120" name="Text 117"/>
          <p:cNvSpPr/>
          <p:nvPr/>
        </p:nvSpPr>
        <p:spPr>
          <a:xfrm>
            <a:off x="14804231" y="4943475"/>
            <a:ext cx="1371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4.85%</a:t>
            </a:r>
            <a:endParaRPr lang="en-US" sz="1125" dirty="0"/>
          </a:p>
        </p:txBody>
      </p:sp>
      <p:sp>
        <p:nvSpPr>
          <p:cNvPr id="121" name="Text 118"/>
          <p:cNvSpPr/>
          <p:nvPr/>
        </p:nvSpPr>
        <p:spPr>
          <a:xfrm>
            <a:off x="14804231" y="5114925"/>
            <a:ext cx="137160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Halal Cash Loan · Tawarruq</a:t>
            </a:r>
            <a:endParaRPr lang="en-US" sz="675" dirty="0"/>
          </a:p>
        </p:txBody>
      </p:sp>
      <p:sp>
        <p:nvSpPr>
          <p:cNvPr id="122" name="Shape 119"/>
          <p:cNvSpPr/>
          <p:nvPr/>
        </p:nvSpPr>
        <p:spPr>
          <a:xfrm>
            <a:off x="14708981" y="5376863"/>
            <a:ext cx="1485900" cy="557213"/>
          </a:xfrm>
          <a:prstGeom prst="roundRect">
            <a:avLst>
              <a:gd name="adj" fmla="val 13675"/>
            </a:avLst>
          </a:prstGeom>
          <a:solidFill>
            <a:srgbClr val="0A25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0"/>
          <p:cNvSpPr/>
          <p:nvPr/>
        </p:nvSpPr>
        <p:spPr>
          <a:xfrm>
            <a:off x="14804231" y="5462588"/>
            <a:ext cx="13716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ADIB</a:t>
            </a:r>
            <a:endParaRPr lang="en-US" sz="750" dirty="0"/>
          </a:p>
        </p:txBody>
      </p:sp>
      <p:sp>
        <p:nvSpPr>
          <p:cNvPr id="124" name="Text 121"/>
          <p:cNvSpPr/>
          <p:nvPr/>
        </p:nvSpPr>
        <p:spPr>
          <a:xfrm>
            <a:off x="14804231" y="5576888"/>
            <a:ext cx="1371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E1DED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5.10%</a:t>
            </a:r>
            <a:endParaRPr lang="en-US" sz="1125" dirty="0"/>
          </a:p>
        </p:txBody>
      </p:sp>
      <p:sp>
        <p:nvSpPr>
          <p:cNvPr id="125" name="Text 122"/>
          <p:cNvSpPr/>
          <p:nvPr/>
        </p:nvSpPr>
        <p:spPr>
          <a:xfrm>
            <a:off x="14804231" y="5748338"/>
            <a:ext cx="1371600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 Refinance · Ijāra</a:t>
            </a:r>
            <a:endParaRPr lang="en-US" sz="675" dirty="0"/>
          </a:p>
        </p:txBody>
      </p:sp>
      <p:sp>
        <p:nvSpPr>
          <p:cNvPr id="126" name="Shape 123"/>
          <p:cNvSpPr/>
          <p:nvPr/>
        </p:nvSpPr>
        <p:spPr>
          <a:xfrm>
            <a:off x="14708981" y="6034088"/>
            <a:ext cx="1485900" cy="9525"/>
          </a:xfrm>
          <a:prstGeom prst="rect">
            <a:avLst/>
          </a:prstGeom>
          <a:solidFill>
            <a:srgbClr val="E1DED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4"/>
          <p:cNvSpPr/>
          <p:nvPr/>
        </p:nvSpPr>
        <p:spPr>
          <a:xfrm>
            <a:off x="14708981" y="6131719"/>
            <a:ext cx="514499" cy="138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1DED1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Score</a:t>
            </a:r>
            <a:endParaRPr lang="en-US" sz="675" dirty="0"/>
          </a:p>
        </p:txBody>
      </p:sp>
      <p:sp>
        <p:nvSpPr>
          <p:cNvPr id="128" name="Text 125"/>
          <p:cNvSpPr/>
          <p:nvPr/>
        </p:nvSpPr>
        <p:spPr>
          <a:xfrm>
            <a:off x="16003191" y="6119813"/>
            <a:ext cx="2678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</a:t>
            </a:r>
            <a:endParaRPr lang="en-US" sz="825" dirty="0"/>
          </a:p>
        </p:txBody>
      </p:sp>
      <p:sp>
        <p:nvSpPr>
          <p:cNvPr id="129" name="Shape 126"/>
          <p:cNvSpPr/>
          <p:nvPr/>
        </p:nvSpPr>
        <p:spPr>
          <a:xfrm>
            <a:off x="14708981" y="6281738"/>
            <a:ext cx="1485900" cy="38100"/>
          </a:xfrm>
          <a:prstGeom prst="roundRect">
            <a:avLst>
              <a:gd name="adj" fmla="val 50000"/>
            </a:avLst>
          </a:prstGeom>
          <a:solidFill>
            <a:srgbClr val="E1DED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14708981" y="6281738"/>
            <a:ext cx="1099542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8"/>
          <p:cNvSpPr/>
          <p:nvPr/>
        </p:nvSpPr>
        <p:spPr>
          <a:xfrm>
            <a:off x="9529763" y="6781800"/>
            <a:ext cx="532171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· debt dashboard · Sharia offer engine</a:t>
            </a:r>
            <a:endParaRPr lang="en-US" sz="2100" dirty="0"/>
          </a:p>
        </p:txBody>
      </p:sp>
      <p:sp>
        <p:nvSpPr>
          <p:cNvPr id="132" name="Shape 129"/>
          <p:cNvSpPr/>
          <p:nvPr/>
        </p:nvSpPr>
        <p:spPr>
          <a:xfrm>
            <a:off x="14696480" y="6662738"/>
            <a:ext cx="2639020" cy="857250"/>
          </a:xfrm>
          <a:prstGeom prst="roundRect">
            <a:avLst>
              <a:gd name="adj" fmla="val 8889"/>
            </a:avLst>
          </a:prstGeom>
          <a:solidFill>
            <a:srgbClr val="4FD1C5">
              <a:alpha val="10000"/>
            </a:srgbClr>
          </a:solidFill>
          <a:ln w="9525">
            <a:solidFill>
              <a:srgbClr val="4FD1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0">
            <a:hlinkClick r:id="rId5"/>
          </p:cNvPr>
          <p:cNvSpPr/>
          <p:nvPr/>
        </p:nvSpPr>
        <p:spPr>
          <a:xfrm>
            <a:off x="14896505" y="6767512"/>
            <a:ext cx="23181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u="sng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prototype ↗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0" y="857250"/>
            <a:ext cx="8572500" cy="85725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2500" y="980629"/>
            <a:ext cx="1143000" cy="1143000"/>
          </a:xfrm>
          <a:prstGeom prst="round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8087" y="2504629"/>
            <a:ext cx="10791825" cy="3558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600" b="1" kern="0" spc="-264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for </a:t>
            </a:r>
            <a:r>
              <a:rPr lang="en-US" sz="6600" b="1" kern="0" spc="-264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debt </a:t>
            </a:r>
            <a:r>
              <a:rPr lang="en-US" sz="6600" b="1" kern="0" spc="-264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GCC is being built. Now.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710238" y="6253609"/>
            <a:ext cx="68675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$149B in household debt. 1.05M addressable borrowers. Zero end-to-end digital Sharia refinance platforms. OLFI closes the gap.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11639" y="8234809"/>
            <a:ext cx="222527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90282" y="8572946"/>
            <a:ext cx="226791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Osman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209356" y="8996809"/>
            <a:ext cx="304225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ahmedfagiry@gmail.com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620199" y="8234809"/>
            <a:ext cx="9525" cy="1071563"/>
          </a:xfrm>
          <a:prstGeom prst="rect">
            <a:avLst/>
          </a:prstGeom>
          <a:solidFill>
            <a:srgbClr val="E1DED1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744521" y="8234809"/>
            <a:ext cx="27566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1DED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CTO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05268" y="8572946"/>
            <a:ext cx="345560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1D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A. Alaaeldin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086924" y="8996809"/>
            <a:ext cx="411139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mahmoudahmedalaa@gmail.com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2500" y="9610725"/>
            <a:ext cx="636349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E1DED1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OLFI · PRE-SEED · APRIL 2026 · CONFIDENTIAL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671625" y="9896475"/>
            <a:ext cx="2663875" cy="9525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hlinkClick r:id="rId4"/>
          </p:cNvPr>
          <p:cNvSpPr/>
          <p:nvPr/>
        </p:nvSpPr>
        <p:spPr>
          <a:xfrm>
            <a:off x="14671625" y="9596438"/>
            <a:ext cx="274379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u="sng" kern="0" spc="1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OLFI.VERCEL.APP ↗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2635</Words>
  <Application>Microsoft Macintosh PowerPoint</Application>
  <PresentationFormat>Custom</PresentationFormat>
  <Paragraphs>466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F</cp:lastModifiedBy>
  <cp:revision>4</cp:revision>
  <dcterms:created xsi:type="dcterms:W3CDTF">2026-05-03T13:14:35Z</dcterms:created>
  <dcterms:modified xsi:type="dcterms:W3CDTF">2026-05-03T15:25:28Z</dcterms:modified>
</cp:coreProperties>
</file>