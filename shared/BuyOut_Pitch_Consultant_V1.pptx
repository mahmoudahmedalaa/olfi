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10B981"/>
                </a:solidFill>
              </a:defRPr>
            </a:pPr>
            <a:r>
              <a:t>BuyOut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1DED1"/>
                </a:solidFill>
              </a:defRPr>
            </a:pPr>
            <a:r>
              <a:t>The infrastructure for digital debt refinancing in the GCC.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103601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1DED1"/>
                </a:solidFill>
              </a:defRPr>
            </a:pPr>
            <a:r>
              <a:t>Recent shifts in data availability, consumer behavior, and bank economics make a platform-led refinancing model viable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015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Open banking &amp; credit bureau APIs enable automated data gathering and verified profiling.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Rising cost of consumer debt drives urgent consumer demand for savings and restructuring.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Banks are under immense pressure to reduce Customer Acquisition Cost (CAC) for new financing.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Consumers are willing to switch financial institutions for meaningful monthly savings.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103601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Product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1DED1"/>
                </a:solidFill>
              </a:defRPr>
            </a:pPr>
            <a:r>
              <a:t>BuyOut delivers a simple, end-to-end refinancing experience that connects consumers, banks, and execution in a single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015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Consumers move from fragmented debt visibility to executed refinancing through a single, intuitive journey.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The platform structures, prioritizes, and contextualizes decisions across all liabilities.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Users connect accounts/inputs, BuyOut analyzes structure and cost, presents best consolidation options, and the bank executes.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Focus is strictly on deep execution, moving beyond basic lead generation or rate comparison.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103601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The Product - 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1DED1"/>
                </a:solidFill>
              </a:defRPr>
            </a:pPr>
            <a:r>
              <a:t>A robust, data-driven engine powered by real-time integrations and intelligent routing.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015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Data Aggregation Layer: Secure connections to AECB and Open Banking APIs for holistic, real-time liability mapping.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Intelligence Layer: Proprietary logic engines optimizing cost-savings, structured for single or multi-liability consolidation scenarios.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Execution Layer: Direct API integrations with partner banks enabling seamless application data transfer and digital disbursement.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Security &amp; Compliance: Built from the ground up to adhere to CBUAE data residency, privacy, and local compliance standards.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103601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Product Uniqueness &amp; Defensibility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1DED1"/>
                </a:solidFill>
              </a:defRPr>
            </a:pPr>
            <a:r>
              <a:t>Defensibility is anchored in execution depth, multi-product consolidation, and deep bank-side integration.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015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Execution Depth: Closing the loop with end-to-end flow rather than operating as a top-of-funnel aggregator.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Multi-Product Consolidation: Simultaneously handling credit cards, auto loans, and personal loans in a single structuring event.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Bank-Side Integration: Deep technical ties with lenders for direct application, underwriting data supply, and disbursement.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103601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1DED1"/>
                </a:solidFill>
              </a:defRPr>
            </a:pPr>
            <a:r>
              <a:t>An asset-light intermediary model monetizing successful refinancing without taking balance sheet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015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Revenue is generated through a phased monetization model aligned with platform maturity and partner value delivery.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Phase 1: Lender referral and success fees generated per funded deal.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Phase 2: Processing fees and advanced origination analytics for banking partners.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Phase 3: Potential value-added services for consumers and financial institutions.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103601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Unit Economics &amp;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1DED1"/>
                </a:solidFill>
              </a:defRPr>
            </a:pPr>
            <a:r>
              <a:t>Simple unit economics driven by high-value events and near-zero marginal costs at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015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One successful refinance event generates significant commission value due to high ticket sizes.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The marginal cost of processing approaches zero as bank API integrations mature and automate.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The platform targets a massive, established refinanceable market where modest early penetration drives meaningful, sustainable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103601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Go-To-Market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1DED1"/>
                </a:solidFill>
              </a:defRPr>
            </a:pPr>
            <a:r>
              <a:t>Built around clear product sequencing, a focused initial segment, and scalable acquisition channels.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015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Balances high-intent digital demand generation with direct bank partnerships to drive volume.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Scalable, digital-first acquisition channels ensure cost-effective top-of-funnel growth.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Bank partnerships act as a core driver of conversion and unit economics, fundamentally de-risking the distribution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103601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GTM - Product Phasing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1DED1"/>
                </a:solidFill>
              </a:defRPr>
            </a:pPr>
            <a:r>
              <a:t>Targeted, phased rollout to accelerate learning, maximize early conversion, and build volume.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015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Phase 1 (M1-M6): Focus solely on credit cards and auto loans—areas with highest consumer pain points and lowest switching friction.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Phase 2 (M7-M12): Expand to complex personal loans and holistic multi-product consolidation packages.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Phase 3 (Year 2+): Rollout of advanced features, full market coverage, and integration of specialized/Sharia-compliant product mapping.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103601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GTM - Customer Persona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1DED1"/>
                </a:solidFill>
              </a:defRPr>
            </a:pPr>
            <a:r>
              <a:t>The initial focus is salaried residents with multiple liabilities who are most motivated to refinance.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015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High-Intent Segment: Users currently holding 2+ active credit facilities (e.g., credit cards, auto loans).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Core Motivation: Immediate need to reduce monthly cash outflows, secure lower rates, or simplify fragmented debt management.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Behavioral Profile: Digitally native, responsive to clear ROI (savings) messaging, and seeking frictionless, digital execution without branch visits.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103601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GTM - Bank &amp; Creditor Partnerships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1DED1"/>
                </a:solidFill>
              </a:defRPr>
            </a:pPr>
            <a:r>
              <a:t>Delivering pre-qualified, high-intent demand to create a compelling proposition for banks.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015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What Banks Get: Fully vetted, pre-qualified applicants with structured liability data ready for underwriting.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The Impact: Dramatically lowers customer acquisition costs (CAC) and increases refinancing conversion rates for partners.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Strategic Alignment: De-risks the model for BuyOut while delivering high-LTV customers directly to partner institutions.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Private Creditors: Specialist lenders benefit from an efficient, digitized, and highly targeted origination pipeline.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103601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Regulatory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1DED1"/>
                </a:solidFill>
              </a:defRPr>
            </a:pPr>
            <a:r>
              <a:t>Operating as an intermediary platform, avoiding lending activity and credit origination entirely.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015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Not a Lender: Zero balance sheet exposure or direct credit risk.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Intermediary Role: Exclusively enables and executes refinancing transactions between consumers and licensed financial institutions.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Compliance: Designed to operate securely within existing regulatory frameworks and open-finance mandates.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103601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Roadmap &amp;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1DED1"/>
                </a:solidFill>
              </a:defRPr>
            </a:pPr>
            <a:r>
              <a:t>Clear, measurable milestones from MVP to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015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Months 1-6: Launch MVP, integrate initial credit data APIs, and secure the first wave of bank partnerships for execution.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Months 7-12: Expand product to handle multi-liability consolidation, aggressively scale user acquisition, and optimize the conversion funnel.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Year 2: Deepen bank API integrations, introduce advanced intelligence features, and scale transaction volume to drive profitability.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Year 3+: Evaluate regional expansion considerations and develop advanced data products.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103601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Execution &amp; Credibility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1DED1"/>
                </a:solidFill>
              </a:defRPr>
            </a:pPr>
            <a:r>
              <a:t>A team equipped to bridge technology, consumer finance, and bank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015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Deep domain expertise in UAE consumer finance, regulatory environments, and lending dynamics.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Technical capability to build secure, scalable, API-first financial infrastructure.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Strong local network required to execute strategic bank partnerships and navigate complex regulatory landscapes.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31520"/>
            <a:ext cx="103601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1DED1"/>
                </a:solidFill>
              </a:defRPr>
            </a:pPr>
            <a:r>
              <a:t>Funding to launch MVP, secure partnerships, and capture early market share.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0152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Raising capital to fund critical technology development, initial customer acquisition, and operational setup.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Funds directly unlock critical early milestones: core bank integrations and initial volume execution targets.</a:t>
            </a:r>
          </a:p>
          <a:p>
            <a:pPr>
              <a:spcAft>
                <a:spcPts val="1400"/>
              </a:spcAft>
              <a:defRPr sz="1800">
                <a:solidFill>
                  <a:srgbClr val="E1DED1"/>
                </a:solidFill>
              </a:defRPr>
            </a:pPr>
            <a:r>
              <a:t>• Prepares the foundation for a larger Seed round within 12-18 months based on proven unit economics and volume.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