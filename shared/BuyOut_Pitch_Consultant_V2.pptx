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10B981"/>
                </a:solidFill>
              </a:defRPr>
            </a:pPr>
            <a:r>
              <a:t>BUYOUT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1DED1"/>
                </a:solidFill>
              </a:defRPr>
            </a:pPr>
            <a:r>
              <a:t>The infrastructure for digital debt refinancing in the GCC.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Recent shifts in data availability, consumer behavior, and bank economics make a platform-led refinancing model viable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407158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4071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0413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Open Banking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04139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AECB and Open Banking APIs enable automated data gathering.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Verified profiling replaces manual paperwork.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4438" y="2011680"/>
            <a:ext cx="2407158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4438" y="1737360"/>
            <a:ext cx="24071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7318" y="2286000"/>
            <a:ext cx="20413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Debt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7318" y="3108960"/>
            <a:ext cx="204139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Rising cost of consumer debt drives urgent consumer demand.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Focus on immediate monthly savings.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7356" y="2011680"/>
            <a:ext cx="2407158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1737360"/>
            <a:ext cx="24071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2286000"/>
            <a:ext cx="20413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Bank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0236" y="3108960"/>
            <a:ext cx="204139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Banks are under immense pressure to reduce Customer Acquisition Cost (CAC).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Need targeted, pre-qualified leads.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0274" y="2011680"/>
            <a:ext cx="2407158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0274" y="1737360"/>
            <a:ext cx="24071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3154" y="2286000"/>
            <a:ext cx="204139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3154" y="3108960"/>
            <a:ext cx="204139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Consumers are highly motivated to switch financial institutions for meaningful savings.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Loyalty yields to cost-efficiency.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PRODUCT UNIQUENESS &amp; DEFENSIBILITY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Defensibility is anchored in execution depth, multi-product consolidation, and deep bank-side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Execution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Closing the loop with an end-to-end flow.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Not just a top-of-funnel aggregator or rate comparison site.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Full fulfillment tracking.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744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1624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Multi-Product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1624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Simultaneously handles credit cards, auto loans, and personal loans.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Single structuring event for maximum consumer savings.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8848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Bank-Side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8848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Deep technical ties with lenders for direct application.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Automated underwriting data supply and API disbursement.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THE PRODUCT: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A robust, data-driven engine powered by real-time integrations and intelligent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2476" y="2286000"/>
            <a:ext cx="9144000" cy="10972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6796" y="246888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1. Consumer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876" y="246888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E1DED1"/>
                </a:solidFill>
              </a:defRPr>
            </a:pPr>
            <a:r>
              <a:t>React Native application featuring seamless KYC/OCR onboarding, intuitive dashboarding, and interactive consolidation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2476" y="3657600"/>
            <a:ext cx="9144000" cy="10972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6796" y="384048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2. Intelligence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6" y="384048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E1DED1"/>
                </a:solidFill>
              </a:defRPr>
            </a:pPr>
            <a:r>
              <a:t>Proprietary logic engine connected to AECB and Open Banking. Calculates structural savings, maps to Sharia-compliant products, and generates the BuyOut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22476" y="5029200"/>
            <a:ext cx="9144000" cy="10972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6796" y="521208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3. Execution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6" y="5212080"/>
            <a:ext cx="5669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>
                <a:solidFill>
                  <a:srgbClr val="E1DED1"/>
                </a:solidFill>
              </a:defRPr>
            </a:pPr>
            <a:r>
              <a:t>Direct API integrations with partner banks. Enables secure transfer of vetted underwriting data and facilitates digital disbursement.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BUSINESS MODEL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An asset-light intermediary model monetizing successful refinancing without taking balance sheet risk.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2743200"/>
            <a:ext cx="3331464" cy="137160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A2525"/>
                </a:solidFill>
              </a:defRPr>
            </a:pPr>
            <a:r>
              <a:t>Phase 1: Success Fees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Lender referral and success fees generated per funded deal. Simple commission upon successful disbursement.</a:t>
            </a:r>
          </a:p>
        </p:txBody>
      </p:sp>
      <p:sp>
        <p:nvSpPr>
          <p:cNvPr id="9" name="Chevron 8"/>
          <p:cNvSpPr/>
          <p:nvPr/>
        </p:nvSpPr>
        <p:spPr>
          <a:xfrm>
            <a:off x="4428744" y="2743200"/>
            <a:ext cx="3331464" cy="1371600"/>
          </a:xfrm>
          <a:prstGeom prst="chevron">
            <a:avLst/>
          </a:prstGeom>
          <a:solidFill>
            <a:srgbClr val="1133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1624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Phase 2: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744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Processing fees and advanced origination analytics packages sold to banking partners.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943088" y="2743200"/>
            <a:ext cx="3331464" cy="1371600"/>
          </a:xfrm>
          <a:prstGeom prst="chevron">
            <a:avLst/>
          </a:prstGeom>
          <a:solidFill>
            <a:srgbClr val="1133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5968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Phase 3: SaaS / Value-Add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3088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Premium value-added services for consumers and structured data products for financial institutions.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GTM: CUSTOMER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The initial focus is salaried residents with multiple liabilities who are most motivated to refinance.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133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The Core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Target: Salaried UAE residents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Profile: Holding 2+ active credit facilities (e.g., credit cards + auto loan).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Motivation: Immediate need to reduce monthly cash outflows and simplify fragmented debt management.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Behavior: Digitally native, responsive to clear ROI (savings) messaging.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2011680"/>
            <a:ext cx="5029200" cy="4114800"/>
          </a:xfrm>
          <a:prstGeom prst="roundRect">
            <a:avLst/>
          </a:prstGeom>
          <a:solidFill>
            <a:srgbClr val="1133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28600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Acquisition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High-intent digital demand generation (Google Search: 'debt consolidation').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Performance social media targeting expats facing rate hikes.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Employer channels positioning BuyOut as a financial wellness benefit.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Frictionless execution replaces branch visits.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GTM: BANK &amp; CREDITOR PARTNERSHIPS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Delivering pre-qualified, high-intent demand to create a compelling proposition for banks.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4114800"/>
          </a:xfrm>
          <a:prstGeom prst="roundRect">
            <a:avLst/>
          </a:prstGeom>
          <a:solidFill>
            <a:srgbClr val="1133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Value to Banks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Fully vetted, pre-qualified applicants with structured liability data.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Dramatically lowers Customer Acquisition Cost (CAC).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Increases refinancing conversion rates and reduces processing time.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Zero upfront balance sheet risk for BuyOut; pure origination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28232" y="2011680"/>
            <a:ext cx="5029200" cy="4114800"/>
          </a:xfrm>
          <a:prstGeom prst="roundRect">
            <a:avLst/>
          </a:prstGeom>
          <a:solidFill>
            <a:srgbClr val="11333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228600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0B981"/>
                </a:solidFill>
              </a:defRPr>
            </a:pPr>
            <a:r>
              <a:t>Partnership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292608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Success fee structure (1.0% - 1.5% of funded value).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Direct API integrations for data sharing and underwriting.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Targeting tier 1 and tier 2 Islamic and conventional lenders.</a:t>
            </a:r>
          </a:p>
          <a:p>
            <a:pPr>
              <a:spcAft>
                <a:spcPts val="1200"/>
              </a:spcAft>
              <a:defRPr sz="1600">
                <a:solidFill>
                  <a:srgbClr val="E1DED1"/>
                </a:solidFill>
              </a:defRPr>
            </a:pPr>
            <a:r>
              <a:t>• Specialist private creditors for highly targeted risk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ROADMAP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Clear, measurable milestones from MVP to regional scale.</a:t>
            </a:r>
          </a:p>
        </p:txBody>
      </p:sp>
      <p:sp>
        <p:nvSpPr>
          <p:cNvPr id="6" name="Chevron 5"/>
          <p:cNvSpPr/>
          <p:nvPr/>
        </p:nvSpPr>
        <p:spPr>
          <a:xfrm>
            <a:off x="914400" y="2743200"/>
            <a:ext cx="3331464" cy="1371600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A2525"/>
                </a:solidFill>
              </a:defRPr>
            </a:pPr>
            <a:r>
              <a:t>M1 - M6: MVP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Launch Sandbox MVP, integrate AECB / Open Banking APIs, secure first 3 bank partnerships, acquire first 500 users.</a:t>
            </a:r>
          </a:p>
        </p:txBody>
      </p:sp>
      <p:sp>
        <p:nvSpPr>
          <p:cNvPr id="9" name="Chevron 8"/>
          <p:cNvSpPr/>
          <p:nvPr/>
        </p:nvSpPr>
        <p:spPr>
          <a:xfrm>
            <a:off x="4428744" y="2743200"/>
            <a:ext cx="3331464" cy="1371600"/>
          </a:xfrm>
          <a:prstGeom prst="chevron">
            <a:avLst/>
          </a:prstGeom>
          <a:solidFill>
            <a:srgbClr val="1133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1624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M7 - M12: Scale &amp; Consolidate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8744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Expand to multi-liability consolidation, scale user acquisition, achieve CAC efficiency, prove unit economics.</a:t>
            </a:r>
          </a:p>
        </p:txBody>
      </p:sp>
      <p:sp>
        <p:nvSpPr>
          <p:cNvPr id="12" name="Chevron 11"/>
          <p:cNvSpPr/>
          <p:nvPr/>
        </p:nvSpPr>
        <p:spPr>
          <a:xfrm>
            <a:off x="7943088" y="2743200"/>
            <a:ext cx="3331464" cy="1371600"/>
          </a:xfrm>
          <a:prstGeom prst="chevron">
            <a:avLst/>
          </a:prstGeom>
          <a:solidFill>
            <a:srgbClr val="11333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5968" y="2926080"/>
            <a:ext cx="2874264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Year 2+: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3088" y="4297680"/>
            <a:ext cx="3331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1DED1"/>
                </a:solidFill>
              </a:defRPr>
            </a:pPr>
            <a:r>
              <a:t>10,000+ users, deep underwriting API integrations, mature ML scoring, and preparation for KSA market entry.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REGULATORY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DED1"/>
                </a:solidFill>
              </a:defRPr>
            </a:pPr>
            <a:r>
              <a:t>Operating securely within established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Not a Lender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Zero balance sheet exposure.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No direct credit origination risk.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Platform does not hold consumer funds.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8744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1624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Intermediary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1624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Exclusively enables and executes transactions.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Bridges consumers and licensed financial institutions.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Transparent matchmaking.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2011680"/>
            <a:ext cx="3331464" cy="3840480"/>
          </a:xfrm>
          <a:prstGeom prst="roundRect">
            <a:avLst/>
          </a:prstGeom>
          <a:solidFill>
            <a:srgbClr val="1133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8848" y="2286000"/>
            <a:ext cx="2965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Compliance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8848" y="3108960"/>
            <a:ext cx="2965704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Designed to operate securely within CBUAE open-finance mandates.</a:t>
            </a:r>
          </a:p>
          <a:p>
            <a:pPr>
              <a:spcAft>
                <a:spcPts val="1000"/>
              </a:spcAft>
              <a:defRPr sz="1400">
                <a:solidFill>
                  <a:srgbClr val="E1DED1"/>
                </a:solidFill>
              </a:defRPr>
            </a:pPr>
            <a:r>
              <a:t>DIFC / Sandbox regulatory pathways identified.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