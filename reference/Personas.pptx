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11" r:id="rId2"/>
    <p:sldId id="310" r:id="rId3"/>
    <p:sldId id="325" r:id="rId4"/>
    <p:sldId id="328" r:id="rId5"/>
    <p:sldId id="329" r:id="rId6"/>
    <p:sldId id="332" r:id="rId7"/>
    <p:sldId id="333" r:id="rId8"/>
    <p:sldId id="330" r:id="rId9"/>
    <p:sldId id="331" r:id="rId10"/>
    <p:sldId id="326" r:id="rId11"/>
    <p:sldId id="327" r:id="rId12"/>
    <p:sldId id="32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D70D0"/>
    <a:srgbClr val="1A0374"/>
    <a:srgbClr val="000040"/>
    <a:srgbClr val="FDB500"/>
    <a:srgbClr val="000049"/>
    <a:srgbClr val="29002B"/>
    <a:srgbClr val="FFC000"/>
    <a:srgbClr val="000000"/>
    <a:srgbClr val="481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049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8FE15-3CC5-E926-FEC0-B92C71DA9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CDA1613-ACC2-8565-904B-4660CE3A0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76" y="1851099"/>
            <a:ext cx="5388046" cy="144130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6427A5F-75B5-EBDD-66E5-6CE017005209}"/>
              </a:ext>
            </a:extLst>
          </p:cNvPr>
          <p:cNvSpPr txBox="1"/>
          <p:nvPr/>
        </p:nvSpPr>
        <p:spPr>
          <a:xfrm>
            <a:off x="3963634" y="3133286"/>
            <a:ext cx="259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 every loan</a:t>
            </a:r>
          </a:p>
        </p:txBody>
      </p:sp>
    </p:spTree>
    <p:extLst>
      <p:ext uri="{BB962C8B-B14F-4D97-AF65-F5344CB8AC3E}">
        <p14:creationId xmlns:p14="http://schemas.microsoft.com/office/powerpoint/2010/main" val="253782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F5BCA-D458-D092-EDE8-EC4DA25D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1F77E96E-8A31-3969-03AE-42DDA8D1EDFF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677D9FB5-102C-8658-AF61-4C16E866A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8DDFF46-FB1F-66EA-ADDA-3A1B50387496}"/>
              </a:ext>
            </a:extLst>
          </p:cNvPr>
          <p:cNvSpPr txBox="1"/>
          <p:nvPr/>
        </p:nvSpPr>
        <p:spPr>
          <a:xfrm>
            <a:off x="53961" y="64511"/>
            <a:ext cx="482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Overleveraged Salaried Expat (Core Persona)</a:t>
            </a:r>
          </a:p>
        </p:txBody>
      </p:sp>
      <p:pic>
        <p:nvPicPr>
          <p:cNvPr id="6" name="Picture 5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8A50BB2B-872E-97E8-6637-44BDF130F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44F32-3CB8-9C34-1594-DCDDAAE36C34}"/>
              </a:ext>
            </a:extLst>
          </p:cNvPr>
          <p:cNvSpPr txBox="1"/>
          <p:nvPr/>
        </p:nvSpPr>
        <p:spPr>
          <a:xfrm>
            <a:off x="440331" y="791980"/>
            <a:ext cx="78670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Age: 23–55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Nationality: Expat (India, Pakistan, Philippines, </a:t>
            </a:r>
            <a:r>
              <a:rPr lang="en-GB" sz="1600" dirty="0" err="1"/>
              <a:t>Sudan,Egypt</a:t>
            </a:r>
            <a:r>
              <a:rPr lang="en-GB" sz="1600" dirty="0"/>
              <a:t>, Jordan, UK, EU,)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Employment: Public &amp; Private sector (mid–senior roles)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Monthly salary: AED 8,000 – 25,000+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Residency tied to employment</a:t>
            </a:r>
          </a:p>
          <a:p>
            <a:endParaRPr lang="en-GB" sz="1600" dirty="0"/>
          </a:p>
          <a:p>
            <a:pPr>
              <a:buNone/>
            </a:pPr>
            <a:r>
              <a:rPr lang="en-GB" sz="1600" b="1" dirty="0"/>
              <a:t>Financial Reality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2–4 active liabilities: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Personal loan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Credit card balances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BNPL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Car loan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DBR close to regulatory limit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Monthly cash flow stress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Limited savings buffer</a:t>
            </a:r>
          </a:p>
        </p:txBody>
      </p:sp>
    </p:spTree>
    <p:extLst>
      <p:ext uri="{BB962C8B-B14F-4D97-AF65-F5344CB8AC3E}">
        <p14:creationId xmlns:p14="http://schemas.microsoft.com/office/powerpoint/2010/main" val="336707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49A8-6490-B00E-5F72-0AC6474F6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7ED79FF2-4B97-A1F3-2371-D2E7C22A0513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B19409ED-5820-53AF-6441-E1D89FAAC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89AFC53-E653-002C-2258-897155A389D3}"/>
              </a:ext>
            </a:extLst>
          </p:cNvPr>
          <p:cNvSpPr txBox="1"/>
          <p:nvPr/>
        </p:nvSpPr>
        <p:spPr>
          <a:xfrm>
            <a:off x="53960" y="64511"/>
            <a:ext cx="490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Overleveraged Salaried Expat (Core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45C182E1-28B7-F196-A25C-414827206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C7A499-FB7B-2B39-7553-23A038232984}"/>
              </a:ext>
            </a:extLst>
          </p:cNvPr>
          <p:cNvSpPr txBox="1"/>
          <p:nvPr/>
        </p:nvSpPr>
        <p:spPr>
          <a:xfrm>
            <a:off x="440331" y="791980"/>
            <a:ext cx="78670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/>
              <a:t>Pain Points</a:t>
            </a: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High cumulative monthly payments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Poor visibility into total debt exposure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Fear of credit score deterioration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Little negotiating power with banks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Branch-heavy, slow refinance processes</a:t>
            </a:r>
          </a:p>
          <a:p>
            <a:pPr>
              <a:buNone/>
            </a:pPr>
            <a:r>
              <a:rPr lang="en-GB" sz="1800" b="1" dirty="0"/>
              <a:t>Why </a:t>
            </a:r>
            <a:r>
              <a:rPr lang="en-GB" sz="1800" b="1" dirty="0" err="1"/>
              <a:t>BuyOut</a:t>
            </a:r>
            <a:r>
              <a:rPr lang="en-GB" sz="1800" b="1" dirty="0"/>
              <a:t> Wins</a:t>
            </a:r>
            <a:endParaRPr lang="en-GB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Single dashboard showing all liabilities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Ability to selectively buy out high-interest debt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Lower monthly payment via longer tenure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One structured, predictable repayment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Soft-check eligibility without damaging credit score</a:t>
            </a:r>
          </a:p>
          <a:p>
            <a:endParaRPr lang="en-GB" sz="1800" dirty="0"/>
          </a:p>
          <a:p>
            <a:pPr>
              <a:buNone/>
            </a:pPr>
            <a:r>
              <a:rPr lang="en-GB" sz="1800" b="1" dirty="0"/>
              <a:t>Strategic Importance</a:t>
            </a:r>
            <a:endParaRPr lang="en-GB" sz="1800" dirty="0"/>
          </a:p>
          <a:p>
            <a:pPr>
              <a:buNone/>
            </a:pPr>
            <a:r>
              <a:rPr lang="en-GB" sz="1800" dirty="0"/>
              <a:t>This persona represents </a:t>
            </a:r>
            <a:r>
              <a:rPr lang="en-GB" sz="1800" b="1" dirty="0"/>
              <a:t>volume + urgency</a:t>
            </a:r>
            <a:r>
              <a:rPr lang="en-GB" sz="1800" dirty="0"/>
              <a:t>, making it the fastest path to scale</a:t>
            </a:r>
          </a:p>
        </p:txBody>
      </p:sp>
    </p:spTree>
    <p:extLst>
      <p:ext uri="{BB962C8B-B14F-4D97-AF65-F5344CB8AC3E}">
        <p14:creationId xmlns:p14="http://schemas.microsoft.com/office/powerpoint/2010/main" val="471509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6AC05-8FDC-9066-A9B9-769DE5F0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D1A98CAB-ACFE-2D71-2BDB-27E1002AE320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60ECF8F0-AF17-AB56-1FEE-4164DAF5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F9866B-E0FD-06E7-FF10-7D7501FF883B}"/>
              </a:ext>
            </a:extLst>
          </p:cNvPr>
          <p:cNvSpPr txBox="1"/>
          <p:nvPr/>
        </p:nvSpPr>
        <p:spPr>
          <a:xfrm>
            <a:off x="53960" y="64511"/>
            <a:ext cx="8165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Emirati National (Government or Semi-Government Employee, High-Trust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F3E67AC3-7CB6-061E-ABEB-75305577A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15FF09-100F-FCE3-AAD4-D3DB86477631}"/>
              </a:ext>
            </a:extLst>
          </p:cNvPr>
          <p:cNvSpPr txBox="1"/>
          <p:nvPr/>
        </p:nvSpPr>
        <p:spPr>
          <a:xfrm>
            <a:off x="440331" y="791980"/>
            <a:ext cx="78670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Profile</a:t>
            </a:r>
            <a:endParaRPr lang="en-GB" dirty="0"/>
          </a:p>
          <a:p>
            <a:r>
              <a:rPr lang="en-GB" dirty="0"/>
              <a:t>Age: 23–55</a:t>
            </a:r>
          </a:p>
          <a:p>
            <a:r>
              <a:rPr lang="en-GB" dirty="0"/>
              <a:t>Nationality: UAE National</a:t>
            </a:r>
          </a:p>
          <a:p>
            <a:r>
              <a:rPr lang="en-GB" dirty="0"/>
              <a:t>Employment: Public/Government / Semi-government</a:t>
            </a:r>
          </a:p>
          <a:p>
            <a:r>
              <a:rPr lang="en-GB" dirty="0"/>
              <a:t>Salary: AED 20,000 – 50,000+</a:t>
            </a:r>
          </a:p>
          <a:p>
            <a:r>
              <a:rPr lang="en-GB" dirty="0"/>
              <a:t>Job security: Very high</a:t>
            </a:r>
          </a:p>
          <a:p>
            <a:r>
              <a:rPr lang="en-GB" b="1" dirty="0"/>
              <a:t>Financial Reality</a:t>
            </a:r>
            <a:endParaRPr lang="en-GB" dirty="0"/>
          </a:p>
          <a:p>
            <a:r>
              <a:rPr lang="en-GB" dirty="0"/>
              <a:t>Access to preferential bank rates</a:t>
            </a:r>
          </a:p>
          <a:p>
            <a:r>
              <a:rPr lang="en-GB" dirty="0"/>
              <a:t>Multiple facilities across banks:</a:t>
            </a:r>
          </a:p>
          <a:p>
            <a:pPr lvl="1"/>
            <a:r>
              <a:rPr lang="en-GB" dirty="0"/>
              <a:t>Personal finance</a:t>
            </a:r>
          </a:p>
          <a:p>
            <a:pPr lvl="1"/>
            <a:r>
              <a:rPr lang="en-GB" dirty="0"/>
              <a:t>Car finance</a:t>
            </a:r>
          </a:p>
          <a:p>
            <a:pPr lvl="1"/>
            <a:r>
              <a:rPr lang="en-GB" dirty="0"/>
              <a:t>Credit cards</a:t>
            </a:r>
          </a:p>
          <a:p>
            <a:r>
              <a:rPr lang="en-GB" dirty="0"/>
              <a:t>Often overbanked rather than overleveraged</a:t>
            </a:r>
          </a:p>
        </p:txBody>
      </p:sp>
    </p:spTree>
    <p:extLst>
      <p:ext uri="{BB962C8B-B14F-4D97-AF65-F5344CB8AC3E}">
        <p14:creationId xmlns:p14="http://schemas.microsoft.com/office/powerpoint/2010/main" val="296520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D916-3871-3DF2-D73C-4A990C68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BCD7D272-EB8E-73AA-1BA7-F4EB497AE80E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5773BE13-4616-C527-11FE-330349F74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9D9E6CF-2430-E7D7-4B00-6CB6E734B6E4}"/>
              </a:ext>
            </a:extLst>
          </p:cNvPr>
          <p:cNvSpPr txBox="1"/>
          <p:nvPr/>
        </p:nvSpPr>
        <p:spPr>
          <a:xfrm>
            <a:off x="53961" y="64511"/>
            <a:ext cx="9316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Emirati National (Government or Semi-Government Employee, High-Trust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63F89C9F-FE9D-AD49-A4FD-226BB39A8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B10A7-D082-5BAB-4018-526982924D43}"/>
              </a:ext>
            </a:extLst>
          </p:cNvPr>
          <p:cNvSpPr txBox="1"/>
          <p:nvPr/>
        </p:nvSpPr>
        <p:spPr>
          <a:xfrm>
            <a:off x="440331" y="791980"/>
            <a:ext cx="78670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Pain Points</a:t>
            </a:r>
            <a:endParaRPr lang="en-GB" dirty="0"/>
          </a:p>
          <a:p>
            <a:r>
              <a:rPr lang="en-GB" dirty="0"/>
              <a:t>Fragmented relationships across banks</a:t>
            </a:r>
          </a:p>
          <a:p>
            <a:r>
              <a:rPr lang="en-GB" dirty="0"/>
              <a:t>Seeking sharia compliant loans</a:t>
            </a:r>
          </a:p>
          <a:p>
            <a:r>
              <a:rPr lang="en-GB" dirty="0"/>
              <a:t>Poor transparency on total liabilities</a:t>
            </a:r>
          </a:p>
          <a:p>
            <a:r>
              <a:rPr lang="en-GB" dirty="0"/>
              <a:t>Time inefficiency (branch visits)</a:t>
            </a:r>
          </a:p>
          <a:p>
            <a:r>
              <a:rPr lang="en-GB" dirty="0"/>
              <a:t>Under-optimized loan structures despite good credit</a:t>
            </a:r>
          </a:p>
          <a:p>
            <a:r>
              <a:rPr lang="en-GB" b="1" dirty="0"/>
              <a:t>Why </a:t>
            </a:r>
            <a:r>
              <a:rPr lang="en-GB" b="1" dirty="0" err="1"/>
              <a:t>BuyOut</a:t>
            </a:r>
            <a:r>
              <a:rPr lang="en-GB" b="1" dirty="0"/>
              <a:t> Wins</a:t>
            </a:r>
            <a:endParaRPr lang="en-GB" dirty="0"/>
          </a:p>
          <a:p>
            <a:r>
              <a:rPr lang="en-GB" dirty="0"/>
              <a:t>Unified financial overview</a:t>
            </a:r>
          </a:p>
          <a:p>
            <a:r>
              <a:rPr lang="en-GB" dirty="0"/>
              <a:t>Private, discreet debt optimization</a:t>
            </a:r>
          </a:p>
          <a:p>
            <a:r>
              <a:rPr lang="en-GB" dirty="0"/>
              <a:t>Access to best-in-market offers across banks</a:t>
            </a:r>
          </a:p>
          <a:p>
            <a:r>
              <a:rPr lang="en-GB" dirty="0"/>
              <a:t>Sharia-compliant refinancing where preferred</a:t>
            </a:r>
          </a:p>
          <a:p>
            <a:r>
              <a:rPr lang="en-GB" b="1" dirty="0"/>
              <a:t>Strategic Importance</a:t>
            </a:r>
            <a:endParaRPr lang="en-GB" dirty="0"/>
          </a:p>
          <a:p>
            <a:r>
              <a:rPr lang="en-GB" dirty="0"/>
              <a:t>This persona improves </a:t>
            </a:r>
            <a:r>
              <a:rPr lang="en-GB" b="1" dirty="0"/>
              <a:t>platform credibility</a:t>
            </a:r>
            <a:r>
              <a:rPr lang="en-GB" dirty="0"/>
              <a:t>, lender trust, and deal size.</a:t>
            </a:r>
          </a:p>
        </p:txBody>
      </p:sp>
    </p:spTree>
    <p:extLst>
      <p:ext uri="{BB962C8B-B14F-4D97-AF65-F5344CB8AC3E}">
        <p14:creationId xmlns:p14="http://schemas.microsoft.com/office/powerpoint/2010/main" val="83999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C78F-2139-8C71-88EE-8907D094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74477019-ED78-A4BB-CC5F-C50FCE96631E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9F5FD539-480A-29A8-D511-4CC68E8A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152AEBB-B5A9-AFF4-D032-F4619FD72EF2}"/>
              </a:ext>
            </a:extLst>
          </p:cNvPr>
          <p:cNvSpPr txBox="1"/>
          <p:nvPr/>
        </p:nvSpPr>
        <p:spPr>
          <a:xfrm>
            <a:off x="53960" y="64511"/>
            <a:ext cx="597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BNPL Spillover User (Emerging Risk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16950088-6979-C5AC-9FE5-979A1323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DF0C3-5D4C-283D-F4AD-EDBF37C87A9A}"/>
              </a:ext>
            </a:extLst>
          </p:cNvPr>
          <p:cNvSpPr txBox="1"/>
          <p:nvPr/>
        </p:nvSpPr>
        <p:spPr>
          <a:xfrm>
            <a:off x="440331" y="791980"/>
            <a:ext cx="78670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Profile</a:t>
            </a:r>
            <a:endParaRPr lang="en-GB" dirty="0"/>
          </a:p>
          <a:p>
            <a:r>
              <a:rPr lang="en-GB" dirty="0"/>
              <a:t>Age: 22–35</a:t>
            </a:r>
          </a:p>
          <a:p>
            <a:r>
              <a:rPr lang="en-GB" dirty="0"/>
              <a:t>Digital-native</a:t>
            </a:r>
          </a:p>
          <a:p>
            <a:r>
              <a:rPr lang="en-GB" dirty="0"/>
              <a:t>Salary: AED 5,000 – 12,000</a:t>
            </a:r>
          </a:p>
          <a:p>
            <a:r>
              <a:rPr lang="en-GB" b="1" dirty="0"/>
              <a:t>Financial Reality</a:t>
            </a:r>
            <a:endParaRPr lang="en-GB" dirty="0"/>
          </a:p>
          <a:p>
            <a:r>
              <a:rPr lang="en-GB" dirty="0"/>
              <a:t>Multiple BNPL providers</a:t>
            </a:r>
          </a:p>
          <a:p>
            <a:r>
              <a:rPr lang="en-GB" dirty="0"/>
              <a:t>Small balances that compound fast</a:t>
            </a:r>
          </a:p>
          <a:p>
            <a:r>
              <a:rPr lang="en-GB" dirty="0"/>
              <a:t>Not visible to traditional banks yet</a:t>
            </a:r>
          </a:p>
        </p:txBody>
      </p:sp>
    </p:spTree>
    <p:extLst>
      <p:ext uri="{BB962C8B-B14F-4D97-AF65-F5344CB8AC3E}">
        <p14:creationId xmlns:p14="http://schemas.microsoft.com/office/powerpoint/2010/main" val="211045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FCF8-C5F9-A0B4-7551-1EBC58FB6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DB05ACB4-5F1C-2A7B-0CC9-8CB89016A1C6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1A6C4D3-9A13-81D7-6E6E-774B632D7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D7C5FB1-0933-0E9A-5A7B-90FAC7518A5D}"/>
              </a:ext>
            </a:extLst>
          </p:cNvPr>
          <p:cNvSpPr txBox="1"/>
          <p:nvPr/>
        </p:nvSpPr>
        <p:spPr>
          <a:xfrm>
            <a:off x="53960" y="64511"/>
            <a:ext cx="5072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BNPL Spillover User (Emerging Risk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68D6EDE2-A0F5-4A04-B8D0-438015F0F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B55EF-8867-BFA7-76EB-418B2B98CA7C}"/>
              </a:ext>
            </a:extLst>
          </p:cNvPr>
          <p:cNvSpPr txBox="1"/>
          <p:nvPr/>
        </p:nvSpPr>
        <p:spPr>
          <a:xfrm>
            <a:off x="440331" y="791980"/>
            <a:ext cx="78670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Pain Points</a:t>
            </a:r>
            <a:endParaRPr lang="en-GB" dirty="0"/>
          </a:p>
          <a:p>
            <a:r>
              <a:rPr lang="en-GB" dirty="0"/>
              <a:t>Fragmented payments</a:t>
            </a:r>
          </a:p>
          <a:p>
            <a:r>
              <a:rPr lang="en-GB" dirty="0"/>
              <a:t>No central view of obligations</a:t>
            </a:r>
          </a:p>
          <a:p>
            <a:r>
              <a:rPr lang="en-GB" dirty="0"/>
              <a:t>Increasing default risk</a:t>
            </a:r>
          </a:p>
          <a:p>
            <a:r>
              <a:rPr lang="en-GB" b="1" dirty="0"/>
              <a:t>Why </a:t>
            </a:r>
            <a:r>
              <a:rPr lang="en-GB" b="1" dirty="0" err="1"/>
              <a:t>BuyOut</a:t>
            </a:r>
            <a:r>
              <a:rPr lang="en-GB" b="1" dirty="0"/>
              <a:t> Wins</a:t>
            </a:r>
            <a:endParaRPr lang="en-GB" dirty="0"/>
          </a:p>
          <a:p>
            <a:r>
              <a:rPr lang="en-GB" dirty="0"/>
              <a:t>Early intervention before bank-level delinquency</a:t>
            </a:r>
          </a:p>
          <a:p>
            <a:r>
              <a:rPr lang="en-GB" dirty="0"/>
              <a:t>Aggregation of micro-debts</a:t>
            </a:r>
          </a:p>
          <a:p>
            <a:r>
              <a:rPr lang="en-GB" dirty="0"/>
              <a:t>Structured repayment path</a:t>
            </a:r>
          </a:p>
          <a:p>
            <a:r>
              <a:rPr lang="en-GB" b="1" dirty="0"/>
              <a:t>Strategic Importance</a:t>
            </a:r>
            <a:endParaRPr lang="en-GB" dirty="0"/>
          </a:p>
          <a:p>
            <a:r>
              <a:rPr lang="en-GB" dirty="0"/>
              <a:t>This persona future-proofs </a:t>
            </a:r>
            <a:r>
              <a:rPr lang="en-GB" dirty="0" err="1"/>
              <a:t>BuyOut</a:t>
            </a:r>
            <a:r>
              <a:rPr lang="en-GB" dirty="0"/>
              <a:t> against rising BNPL-induced debt stress</a:t>
            </a:r>
          </a:p>
        </p:txBody>
      </p:sp>
    </p:spTree>
    <p:extLst>
      <p:ext uri="{BB962C8B-B14F-4D97-AF65-F5344CB8AC3E}">
        <p14:creationId xmlns:p14="http://schemas.microsoft.com/office/powerpoint/2010/main" val="227897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58B1-99B8-12D4-C64D-35491C18A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7965427B-1341-56D4-A6A2-3D16C608CECC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8F5FF05D-A035-A172-C9F8-6EA37F9E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5FDAA9D-9329-8AA4-7B8B-CA423AF392BE}"/>
              </a:ext>
            </a:extLst>
          </p:cNvPr>
          <p:cNvSpPr txBox="1"/>
          <p:nvPr/>
        </p:nvSpPr>
        <p:spPr>
          <a:xfrm>
            <a:off x="53960" y="64511"/>
            <a:ext cx="814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Credit Score Repair Seeker (Hidden Demand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391662A6-7F8C-858C-B432-FFAEA1E45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790460-0F51-FCB7-EEE3-AA00ACFFFE4E}"/>
              </a:ext>
            </a:extLst>
          </p:cNvPr>
          <p:cNvSpPr txBox="1"/>
          <p:nvPr/>
        </p:nvSpPr>
        <p:spPr>
          <a:xfrm>
            <a:off x="440331" y="791980"/>
            <a:ext cx="78670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Profile</a:t>
            </a:r>
            <a:endParaRPr lang="en-GB" dirty="0"/>
          </a:p>
          <a:p>
            <a:r>
              <a:rPr lang="en-GB" dirty="0"/>
              <a:t>Age: 25–45</a:t>
            </a:r>
          </a:p>
          <a:p>
            <a:r>
              <a:rPr lang="en-GB" dirty="0"/>
              <a:t>Mixed nationalities</a:t>
            </a:r>
          </a:p>
          <a:p>
            <a:r>
              <a:rPr lang="en-GB" dirty="0"/>
              <a:t>Salary: AED 6,000 – 15,000</a:t>
            </a:r>
          </a:p>
          <a:p>
            <a:r>
              <a:rPr lang="en-GB" b="1" dirty="0"/>
              <a:t>Financial Reality</a:t>
            </a:r>
            <a:endParaRPr lang="en-GB" dirty="0"/>
          </a:p>
          <a:p>
            <a:r>
              <a:rPr lang="en-GB" dirty="0"/>
              <a:t>Missed payments</a:t>
            </a:r>
          </a:p>
          <a:p>
            <a:r>
              <a:rPr lang="en-GB" dirty="0"/>
              <a:t>Overutilized credit cards</a:t>
            </a:r>
          </a:p>
          <a:p>
            <a:r>
              <a:rPr lang="en-GB" dirty="0"/>
              <a:t>Low or declining credit score</a:t>
            </a:r>
          </a:p>
          <a:p>
            <a:r>
              <a:rPr lang="en-GB" dirty="0"/>
              <a:t>Limited access to new credit</a:t>
            </a:r>
          </a:p>
        </p:txBody>
      </p:sp>
    </p:spTree>
    <p:extLst>
      <p:ext uri="{BB962C8B-B14F-4D97-AF65-F5344CB8AC3E}">
        <p14:creationId xmlns:p14="http://schemas.microsoft.com/office/powerpoint/2010/main" val="3277480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E40C5-58A5-E7FB-62EA-26FE5B00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41997D55-647E-2782-272E-1B2F39161251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08F9FEEA-F321-6869-9C0A-9AA22B23F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6C0E077-3ADF-CB90-7F28-4E732031A404}"/>
              </a:ext>
            </a:extLst>
          </p:cNvPr>
          <p:cNvSpPr txBox="1"/>
          <p:nvPr/>
        </p:nvSpPr>
        <p:spPr>
          <a:xfrm>
            <a:off x="53960" y="64511"/>
            <a:ext cx="8253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Credit Score Repair Seeker (Hidden Demand Persona)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26F58FD8-4C8E-406A-BF34-FE29BB5BA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118CDF-1001-D094-5CB3-783CEC242998}"/>
              </a:ext>
            </a:extLst>
          </p:cNvPr>
          <p:cNvSpPr txBox="1"/>
          <p:nvPr/>
        </p:nvSpPr>
        <p:spPr>
          <a:xfrm>
            <a:off x="440331" y="791980"/>
            <a:ext cx="786704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Pain Points</a:t>
            </a:r>
            <a:endParaRPr lang="en-GB" dirty="0"/>
          </a:p>
          <a:p>
            <a:r>
              <a:rPr lang="en-GB" dirty="0"/>
              <a:t>Loan rejections without explanation</a:t>
            </a:r>
          </a:p>
          <a:p>
            <a:r>
              <a:rPr lang="en-GB" dirty="0"/>
              <a:t>Fear of hard credit checks</a:t>
            </a:r>
          </a:p>
          <a:p>
            <a:r>
              <a:rPr lang="en-GB" dirty="0"/>
              <a:t>Lack of guidance on recovery path</a:t>
            </a:r>
          </a:p>
          <a:p>
            <a:r>
              <a:rPr lang="en-GB" b="1" dirty="0"/>
              <a:t>Why </a:t>
            </a:r>
            <a:r>
              <a:rPr lang="en-GB" b="1" dirty="0" err="1"/>
              <a:t>BuyOut</a:t>
            </a:r>
            <a:r>
              <a:rPr lang="en-GB" b="1" dirty="0"/>
              <a:t> Wins</a:t>
            </a:r>
            <a:endParaRPr lang="en-GB" dirty="0"/>
          </a:p>
          <a:p>
            <a:r>
              <a:rPr lang="en-GB" dirty="0"/>
              <a:t>Credit health dashboard</a:t>
            </a:r>
          </a:p>
          <a:p>
            <a:r>
              <a:rPr lang="en-GB" dirty="0"/>
              <a:t>Soft eligibility checks</a:t>
            </a:r>
          </a:p>
          <a:p>
            <a:r>
              <a:rPr lang="en-GB" dirty="0"/>
              <a:t>Debt prioritization tools</a:t>
            </a:r>
          </a:p>
          <a:p>
            <a:r>
              <a:rPr lang="en-GB" dirty="0"/>
              <a:t>Step-by-step score improvement guidance</a:t>
            </a:r>
          </a:p>
          <a:p>
            <a:r>
              <a:rPr lang="en-GB" b="1" dirty="0"/>
              <a:t>Strategic Importance</a:t>
            </a:r>
            <a:endParaRPr lang="en-GB" dirty="0"/>
          </a:p>
          <a:p>
            <a:r>
              <a:rPr lang="en-GB" dirty="0"/>
              <a:t>High engagement, high retention, upsell potential once score improves</a:t>
            </a:r>
          </a:p>
        </p:txBody>
      </p:sp>
    </p:spTree>
    <p:extLst>
      <p:ext uri="{BB962C8B-B14F-4D97-AF65-F5344CB8AC3E}">
        <p14:creationId xmlns:p14="http://schemas.microsoft.com/office/powerpoint/2010/main" val="377107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1962-49CE-C866-CE98-7F3C787F3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FB135C66-BFF7-DCA2-DB17-CF811EE7E4C6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EFEC687D-B20F-3BEA-9BB8-C6BB23CF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507EA1A-1D2A-4C63-4191-60615E777BF8}"/>
              </a:ext>
            </a:extLst>
          </p:cNvPr>
          <p:cNvSpPr txBox="1"/>
          <p:nvPr/>
        </p:nvSpPr>
        <p:spPr>
          <a:xfrm>
            <a:off x="53960" y="64511"/>
            <a:ext cx="8411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Ethically Conscious Muslim Borrower (Strategic Differentiator)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E517D7AE-9A60-3DAE-9DF2-FD7CA1023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8AFED5-3C66-F0EF-67D2-38E1E27CDB18}"/>
              </a:ext>
            </a:extLst>
          </p:cNvPr>
          <p:cNvSpPr txBox="1"/>
          <p:nvPr/>
        </p:nvSpPr>
        <p:spPr>
          <a:xfrm>
            <a:off x="440331" y="791980"/>
            <a:ext cx="786704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Profile</a:t>
            </a:r>
            <a:endParaRPr lang="en-GB" dirty="0"/>
          </a:p>
          <a:p>
            <a:r>
              <a:rPr lang="en-GB" dirty="0"/>
              <a:t>Age: 29–50</a:t>
            </a:r>
          </a:p>
          <a:p>
            <a:r>
              <a:rPr lang="en-GB" dirty="0"/>
              <a:t>Nationality: GCC / Arab / Southeast Asian</a:t>
            </a:r>
          </a:p>
          <a:p>
            <a:r>
              <a:rPr lang="en-GB" dirty="0"/>
              <a:t>Employment: Public or private sector</a:t>
            </a:r>
          </a:p>
          <a:p>
            <a:r>
              <a:rPr lang="en-GB" dirty="0"/>
              <a:t>Salary: AED 7,000 – 30,000</a:t>
            </a:r>
          </a:p>
          <a:p>
            <a:r>
              <a:rPr lang="en-GB" b="1" dirty="0"/>
              <a:t>Financial Reality</a:t>
            </a:r>
            <a:endParaRPr lang="en-GB" dirty="0"/>
          </a:p>
          <a:p>
            <a:r>
              <a:rPr lang="en-GB" dirty="0"/>
              <a:t>Already has conventional loans due to:</a:t>
            </a:r>
          </a:p>
          <a:p>
            <a:pPr lvl="1"/>
            <a:r>
              <a:rPr lang="en-GB" dirty="0"/>
              <a:t>Urgency</a:t>
            </a:r>
          </a:p>
          <a:p>
            <a:pPr lvl="1"/>
            <a:r>
              <a:rPr lang="en-GB" dirty="0"/>
              <a:t>Lack of Islamic alternatives</a:t>
            </a:r>
          </a:p>
          <a:p>
            <a:pPr lvl="1"/>
            <a:r>
              <a:rPr lang="en-GB" dirty="0"/>
              <a:t>Poor education around Sharia finance</a:t>
            </a:r>
          </a:p>
          <a:p>
            <a:r>
              <a:rPr lang="en-GB" dirty="0"/>
              <a:t>Internal conflict around </a:t>
            </a:r>
            <a:r>
              <a:rPr lang="en-GB" dirty="0" err="1"/>
              <a:t>riba</a:t>
            </a:r>
            <a:r>
              <a:rPr lang="en-GB" dirty="0"/>
              <a:t> (interest)</a:t>
            </a:r>
          </a:p>
        </p:txBody>
      </p:sp>
    </p:spTree>
    <p:extLst>
      <p:ext uri="{BB962C8B-B14F-4D97-AF65-F5344CB8AC3E}">
        <p14:creationId xmlns:p14="http://schemas.microsoft.com/office/powerpoint/2010/main" val="40644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3436D-F001-61CC-A9A7-D274543D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>
            <a:extLst>
              <a:ext uri="{FF2B5EF4-FFF2-40B4-BE49-F238E27FC236}">
                <a16:creationId xmlns:a16="http://schemas.microsoft.com/office/drawing/2014/main" id="{8B2EA196-753C-CFBF-2D46-694406E16715}"/>
              </a:ext>
            </a:extLst>
          </p:cNvPr>
          <p:cNvSpPr txBox="1"/>
          <p:nvPr/>
        </p:nvSpPr>
        <p:spPr>
          <a:xfrm>
            <a:off x="8837190" y="4355344"/>
            <a:ext cx="221374" cy="12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"/>
              </a:lnSpc>
              <a:spcBef>
                <a:spcPct val="0"/>
              </a:spcBef>
            </a:pPr>
            <a:r>
              <a:rPr lang="en-US" sz="7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pic>
        <p:nvPicPr>
          <p:cNvPr id="26" name="Picture 25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3D8BE204-DF0B-CD47-B631-778CE800B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678" y="4581924"/>
            <a:ext cx="622617" cy="5615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25E00E7-D665-AA0F-9E01-AB72EE15765B}"/>
              </a:ext>
            </a:extLst>
          </p:cNvPr>
          <p:cNvSpPr txBox="1"/>
          <p:nvPr/>
        </p:nvSpPr>
        <p:spPr>
          <a:xfrm>
            <a:off x="53961" y="64511"/>
            <a:ext cx="864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Ethically Conscious Muslim Borrower (Strategic Differentiator)</a:t>
            </a:r>
          </a:p>
        </p:txBody>
      </p:sp>
      <p:pic>
        <p:nvPicPr>
          <p:cNvPr id="23" name="Picture 22" descr="A yellow arrow pointing to the left&#10;&#10;AI-generated content may be incorrect.">
            <a:extLst>
              <a:ext uri="{FF2B5EF4-FFF2-40B4-BE49-F238E27FC236}">
                <a16:creationId xmlns:a16="http://schemas.microsoft.com/office/drawing/2014/main" id="{605CEC7D-E43E-D44B-00F1-EE60F16D3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" y="740610"/>
            <a:ext cx="450605" cy="450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745785-FA20-0677-57F9-34A0140E225A}"/>
              </a:ext>
            </a:extLst>
          </p:cNvPr>
          <p:cNvSpPr txBox="1"/>
          <p:nvPr/>
        </p:nvSpPr>
        <p:spPr>
          <a:xfrm>
            <a:off x="440331" y="791980"/>
            <a:ext cx="786704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Pain Points</a:t>
            </a:r>
            <a:endParaRPr lang="en-GB" dirty="0"/>
          </a:p>
          <a:p>
            <a:r>
              <a:rPr lang="en-GB" dirty="0"/>
              <a:t>Moral discomfort with interest-based loans</a:t>
            </a:r>
          </a:p>
          <a:p>
            <a:r>
              <a:rPr lang="en-GB" dirty="0"/>
              <a:t>Confusion around profit vs interest structures</a:t>
            </a:r>
          </a:p>
          <a:p>
            <a:r>
              <a:rPr lang="en-GB" dirty="0"/>
              <a:t>Limited transparent comparison between Islamic offers</a:t>
            </a:r>
          </a:p>
          <a:p>
            <a:r>
              <a:rPr lang="en-GB" dirty="0"/>
              <a:t>Belief that Islamic finance is “always more expensive”</a:t>
            </a:r>
          </a:p>
          <a:p>
            <a:r>
              <a:rPr lang="en-GB" b="1" dirty="0"/>
              <a:t>Why </a:t>
            </a:r>
            <a:r>
              <a:rPr lang="en-GB" b="1" dirty="0" err="1"/>
              <a:t>BuyOut</a:t>
            </a:r>
            <a:r>
              <a:rPr lang="en-GB" b="1" dirty="0"/>
              <a:t> Wins</a:t>
            </a:r>
            <a:endParaRPr lang="en-GB" dirty="0"/>
          </a:p>
          <a:p>
            <a:r>
              <a:rPr lang="en-GB" dirty="0"/>
              <a:t>Clear Sharia-compliant buyout options</a:t>
            </a:r>
          </a:p>
          <a:p>
            <a:r>
              <a:rPr lang="en-GB" dirty="0"/>
              <a:t>Transparent explanation of Murabaha / </a:t>
            </a:r>
            <a:r>
              <a:rPr lang="en-GB" dirty="0" err="1"/>
              <a:t>Tawarruq</a:t>
            </a:r>
            <a:r>
              <a:rPr lang="en-GB" dirty="0"/>
              <a:t> structures</a:t>
            </a:r>
          </a:p>
          <a:p>
            <a:r>
              <a:rPr lang="en-GB" dirty="0"/>
              <a:t>Side-by-side comparison with conventional loans</a:t>
            </a:r>
          </a:p>
          <a:p>
            <a:r>
              <a:rPr lang="en-GB" dirty="0"/>
              <a:t>Ethical + financial optimization in one place</a:t>
            </a:r>
          </a:p>
          <a:p>
            <a:r>
              <a:rPr lang="en-GB" b="1" dirty="0"/>
              <a:t>Strategic Importance</a:t>
            </a:r>
            <a:endParaRPr lang="en-GB" dirty="0"/>
          </a:p>
          <a:p>
            <a:r>
              <a:rPr lang="en-GB" dirty="0"/>
              <a:t>This persona creates </a:t>
            </a:r>
            <a:r>
              <a:rPr lang="en-GB" b="1" dirty="0"/>
              <a:t>strong brand loyalty</a:t>
            </a:r>
            <a:r>
              <a:rPr lang="en-GB" dirty="0"/>
              <a:t> and long-term platform trust.</a:t>
            </a:r>
          </a:p>
        </p:txBody>
      </p:sp>
    </p:spTree>
    <p:extLst>
      <p:ext uri="{BB962C8B-B14F-4D97-AF65-F5344CB8AC3E}">
        <p14:creationId xmlns:p14="http://schemas.microsoft.com/office/powerpoint/2010/main" val="4050252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2467-3BF0-5E2C-0638-B62F3D3B2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439D056-65AB-0A91-E8D4-847FE5CBA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76" y="1851099"/>
            <a:ext cx="5388046" cy="144130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03C08B0-33CA-23B8-F836-57A541063554}"/>
              </a:ext>
            </a:extLst>
          </p:cNvPr>
          <p:cNvSpPr txBox="1"/>
          <p:nvPr/>
        </p:nvSpPr>
        <p:spPr>
          <a:xfrm>
            <a:off x="3963634" y="3133286"/>
            <a:ext cx="2597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75000"/>
                  </a:schemeClr>
                </a:solidFill>
              </a:rPr>
              <a:t>For every loan</a:t>
            </a:r>
          </a:p>
        </p:txBody>
      </p:sp>
    </p:spTree>
    <p:extLst>
      <p:ext uri="{BB962C8B-B14F-4D97-AF65-F5344CB8AC3E}">
        <p14:creationId xmlns:p14="http://schemas.microsoft.com/office/powerpoint/2010/main" val="20694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13129</TotalTime>
  <Words>620</Words>
  <Application>Microsoft Macintosh PowerPoint</Application>
  <PresentationFormat>On-screen Show (16:9)</PresentationFormat>
  <Paragraphs>139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Sudasat-Turksat</dc:title>
  <dc:subject>PptxGenJS Presentation</dc:subject>
  <dc:creator>Pitch Software GmbH</dc:creator>
  <cp:lastModifiedBy>Ahmed F</cp:lastModifiedBy>
  <cp:revision>114</cp:revision>
  <dcterms:created xsi:type="dcterms:W3CDTF">2025-05-06T09:37:27Z</dcterms:created>
  <dcterms:modified xsi:type="dcterms:W3CDTF">2026-01-26T13:52:54Z</dcterms:modified>
</cp:coreProperties>
</file>